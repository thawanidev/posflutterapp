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Cue (الاتجاه البصري):</a:t>
            </a:r>
          </a:p>
          <a:p>
            <a:r>
              <a:t>تجميعة منتج كاملة، مع شاشة كاشير Wameed POS كأكبر عنصر بصري، ولقطات Thawani أو قنوات الطلبات كعناصر ثانوية.</a:t>
            </a:r>
          </a:p>
          <a:p/>
          <a:p>
            <a:r>
              <a:t>Presenter Notes (ملاحظة العرض):</a:t>
            </a:r>
          </a:p>
          <a:p>
            <a:r>
              <a:t>افتح بقصة الشركة وعائلة المنتجات، ثم وضح أن العرض سيفصل المنتجين.</a:t>
            </a:r>
          </a:p>
          <a:p/>
          <a:p>
            <a:r>
              <a:t>Code Reference Guide (الدليل المرجعي):</a:t>
            </a:r>
          </a:p>
          <a:p>
            <a:r>
              <a:t>`pubspec.yaml`، `lib/core/constants/app_constants.dart`، `lib/core/router/route_names.dart`، `lib/core/widgets/pos_sidebar.dart`.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Cue (الاتجاه البصري):</a:t>
            </a:r>
          </a:p>
          <a:p>
            <a:r>
              <a:t>شريحة تعريف شركة نظيفة بأربعة أعمدة: البيع، التشغيل، الامتثال، الاتصال.</a:t>
            </a:r>
          </a:p>
          <a:p/>
          <a:p>
            <a:r>
              <a:t>Presenter Notes (ملاحظة العرض):</a:t>
            </a:r>
          </a:p>
          <a:p>
            <a:r>
              <a:t>أبقِها عالية المستوى. لا تدخل في تفاصيل الميزات قبل بدء أقسام المنتجات.</a:t>
            </a:r>
          </a:p>
          <a:p/>
          <a:p>
            <a:r>
              <a:t>Code Reference Guide (الدليل المرجعي):</a:t>
            </a:r>
          </a:p>
          <a:p>
            <a:r>
              <a:t>`lib/core/widgets/app_shell.dart`، `lib/core/widgets/pos_sidebar.dart`، `lib/features/pos_terminal/data/local/pos_offline_database.dart`، `lib/features/thawani_integration/`.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Cue (الاتجاه البصري):</a:t>
            </a:r>
          </a:p>
          <a:p>
            <a:r>
              <a:t>خريطة منتجين بعمودين. يسارها وحدات Wameed POS، ويمينها وحدات Thawani/التجارة المتصلة. ضع الخدمات المشتركة في صف أساس صغير لا يخلط العمودين.</a:t>
            </a:r>
          </a:p>
          <a:p/>
          <a:p>
            <a:r>
              <a:t>Presenter Notes (ملاحظة العرض):</a:t>
            </a:r>
          </a:p>
          <a:p>
            <a:r>
              <a:t>هذه الشريحة تمنع تداخل القصة في بقية العرض. يجب أن يعرف الجمهور أين تنتمي كل ميزة.</a:t>
            </a:r>
          </a:p>
          <a:p/>
          <a:p>
            <a:r>
              <a:t>Code Reference Guide (الدليل المرجعي):</a:t>
            </a:r>
          </a:p>
          <a:p>
            <a:r>
              <a:t>`lib/core/widgets/pos_sidebar.dart`، `lib/features/subscription/services/feature_gate_service.dart`، `lib/features/thawani_integration/data/remote/thawani_api_service.dart`، `lib/features/delivery_integration/data/remote/delivery_api_service.dart`.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Cue (الاتجاه البصري):</a:t>
            </a:r>
          </a:p>
          <a:p>
            <a:r>
              <a:t>تدفق أفقي من تشغيل المتجر إلى التجارة المتصلة. استخدم أشرطة ألوان تفصل Wameed POS عن Thawani.</a:t>
            </a:r>
          </a:p>
          <a:p/>
          <a:p>
            <a:r>
              <a:t>Presenter Notes (ملاحظة العرض):</a:t>
            </a:r>
          </a:p>
          <a:p>
            <a:r>
              <a:t>هذه آخر شريحة نظرة عامة مختلطة. بعدها ابقَ داخل قسم منتج واحد في كل مرة.</a:t>
            </a:r>
          </a:p>
          <a:p/>
          <a:p>
            <a:r>
              <a:t>Code Reference Guide (الدليل المرجعي):</a:t>
            </a:r>
          </a:p>
          <a:p>
            <a:r>
              <a:t>`lib/core/providers/branch_context_provider.dart`، `lib/core/router/route_permissions.dart`، `lib/features/subscription/`، `lib/features/notifications/`.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Cue (الاتجاه البصري):</a:t>
            </a:r>
          </a:p>
          <a:p>
            <a:r>
              <a:t>لوحة Thawani، صفحة نشر القائمة الإلكترونية، شاشة الربط، صفحة التسويات، وسجل المزامنة.</a:t>
            </a:r>
          </a:p>
          <a:p/>
          <a:p>
            <a:r>
              <a:t>Presenter Notes (ملاحظة العرض):</a:t>
            </a:r>
          </a:p>
          <a:p>
            <a:r>
              <a:t>هذه بداية قسم Thawani Connected Commerce. لا تذكر Wameed POS مرة أخرى حتى الشريحة 8 إلا كحد تكامل فقط.</a:t>
            </a:r>
          </a:p>
          <a:p/>
          <a:p>
            <a:r>
              <a:t>Code Reference Guide (الدليل المرجعي):</a:t>
            </a:r>
          </a:p>
          <a:p>
            <a:r>
              <a:t>`lib/features/thawani_integration/data/remote/thawani_api_service.dart`، `lib/features/thawani_integration/pages/`، `lib/core/constants/api_endpoints.dart`.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Cue (الاتجاه البصري):</a:t>
            </a:r>
          </a:p>
          <a:p>
            <a:r>
              <a:t>لوحة التوصيل، قائمة الطلبات النشطة، تفاصيل الطلب، مزامنة القائمة، سجل webhook أو الحالة، وشاشة حالة طلب Thawani.</a:t>
            </a:r>
          </a:p>
          <a:p/>
          <a:p>
            <a:r>
              <a:t>Presenter Notes (ملاحظة العرض):</a:t>
            </a:r>
          </a:p>
          <a:p>
            <a:r>
              <a:t>يمكن لهذه الشريحة أن تعرض تشغيل القنوات الإلكترونية، لكن لا تجعلها تعود إلى شريحة POS عامة.</a:t>
            </a:r>
          </a:p>
          <a:p/>
          <a:p>
            <a:r>
              <a:t>Code Reference Guide (الدليل المرجعي):</a:t>
            </a:r>
          </a:p>
          <a:p>
            <a:r>
              <a:t>`lib/features/delivery_integration/data/remote/delivery_api_service.dart`، `lib/features/orders/data/remote/order_api_service.dart`، `lib/features/thawani_integration/data/remote/thawani_api_service.dart`.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Cue (الاتجاه البصري):</a:t>
            </a:r>
          </a:p>
          <a:p>
            <a:r>
              <a:t>رسم بياني لمسار الحصة السوقية — دخول السنة الأولى، السنة الثانية عند ~5%، والمدى المتوسط بين 5–8%. استخدم ألوان Thawani لتمييز النطاق المستهدف.</a:t>
            </a:r>
          </a:p>
          <a:p/>
          <a:p>
            <a:r>
              <a:t>Presenter Notes (ملاحظة العرض):</a:t>
            </a:r>
          </a:p>
          <a:p>
            <a:r>
              <a:t>استخدم لغة توجيهية لجميع أرقام الحصة السوقية. لا تدخل أرقام حجم SAR محددة ما لم تؤخذ من مصدر تجاري معتمد حالي.</a:t>
            </a:r>
          </a:p>
          <a:p/>
          <a:p>
            <a:r>
              <a:t>Code Reference Guide (الدليل المرجعي):</a:t>
            </a:r>
          </a:p>
          <a:p>
            <a:r>
              <a:t>`lib/features/thawani_integration/`، `lib/features/delivery_integration/`، `lib/features/orders/`.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Cue (الاتجاه البصري):</a:t>
            </a:r>
          </a:p>
          <a:p>
            <a:r>
              <a:t>لوحة Wameed POS أو شاشة الكاشير مع شريط وحدات أسفلها.</a:t>
            </a:r>
          </a:p>
          <a:p/>
          <a:p>
            <a:r>
              <a:t>Presenter Notes (ملاحظة العرض):</a:t>
            </a:r>
          </a:p>
          <a:p>
            <a:r>
              <a:t>هذه بداية قسم Wameed POS. تم تغطية Thawani Connected Commerce في الشرائح 5 إلى 7.</a:t>
            </a:r>
          </a:p>
          <a:p/>
          <a:p>
            <a:r>
              <a:t>Code Reference Guide (الدليل المرجعي):</a:t>
            </a:r>
          </a:p>
          <a:p>
            <a:r>
              <a:t>`lib/features/pos_terminal/pages/pos_cashier_page.dart`، `lib/features/pos_terminal/data/local/pos_offline_database.dart`، `lib/core/widgets/pos_sidebar.dart`، `lib/core/router/route_permissions.dart`.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Cue (الاتجاه البصري):</a:t>
            </a:r>
          </a:p>
          <a:p>
            <a:r>
              <a:t>رسم بياني مقسّم بالقطاعات — شريط التجزئة/السوبرماركت عند 40–45%، شريط المطاعم عند ~10%، والقطاعات المتخصصة كطبقة نمو ثالثة. استخدم ألوان Wameed.</a:t>
            </a:r>
          </a:p>
          <a:p/>
          <a:p>
            <a:r>
              <a:t>Presenter Notes (ملاحظة العرض):</a:t>
            </a:r>
          </a:p>
          <a:p>
            <a:r>
              <a:t>استخدم لغة توجيهية لجميع أرقام الحصة السوقية. لا تدخل أرقام إيرادات SAR محددة ما لم تؤخذ من مصدر تجاري معتمد حالي.</a:t>
            </a:r>
          </a:p>
          <a:p/>
          <a:p>
            <a:r>
              <a:t>Code Reference Guide (الدليل المرجعي):</a:t>
            </a:r>
          </a:p>
          <a:p>
            <a:r>
              <a:t>`lib/features/pos_terminal/`، `lib/features/industry_restaurant/`، `lib/features/industry_bakery/`، `lib/features/industry_pharmacy/`، `lib/features/industry_jewelry/`، `lib/features/industry_electronics/`، `lib/features/industry_florist/`.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Cue (الاتجاه البصري):</a:t>
            </a:r>
          </a:p>
          <a:p>
            <a:r>
              <a:t>استخدم شاشة `PosCashierPage` الفعلية مع قصاصات من السلة، منطقة المنتجات، ونافذة الدفع.</a:t>
            </a:r>
          </a:p>
          <a:p/>
          <a:p>
            <a:r>
              <a:t>Presenter Notes (ملاحظة العرض):</a:t>
            </a:r>
          </a:p>
          <a:p>
            <a:r>
              <a:t>يجب أن يشعر القارئ أن النظام جاهز للعمل على صندوق البيع، وليس مجرد أداة إدارية.</a:t>
            </a:r>
          </a:p>
          <a:p/>
          <a:p>
            <a:r>
              <a:t>Code Reference Guide (الدليل المرجعي):</a:t>
            </a:r>
          </a:p>
          <a:p>
            <a:r>
              <a:t>`lib/features/pos_terminal/pages/pos_cashier_page.dart`، `lib/features/pos_terminal/pages/pos_payment_dialog.dart`، `lib/features/pos_terminal/pages/pos_return_dialog.dart`، `lib/features/customer_facing_display/pages/cfd_page.dart`، `lib/features/softpos/services/softpos_service.dart`.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Cue (الاتجاه البصري):</a:t>
            </a:r>
          </a:p>
          <a:p>
            <a:r>
              <a:t>مخطط يوضح قاعدة POS المحلية، قائمة انتظار المزامنة، API السحابي، والأجهزة الأخرى.</a:t>
            </a:r>
          </a:p>
          <a:p/>
          <a:p>
            <a:r>
              <a:t>Presenter Notes (ملاحظة العرض):</a:t>
            </a:r>
          </a:p>
          <a:p>
            <a:r>
              <a:t>لا تقل إن كل ميزة تعمل بالكامل دون اتصال. قل إن نواة POS والبيانات التشغيلية المنعكسة تعمل بأسلوب local-first.</a:t>
            </a:r>
          </a:p>
          <a:p/>
          <a:p>
            <a:r>
              <a:t>Code Reference Guide (الدليل المرجعي):</a:t>
            </a:r>
          </a:p>
          <a:p>
            <a:r>
              <a:t>`lib/features/pos_terminal/data/local/pos_offline_database.dart`، `lib/features/sync/data/remote/sync_api_service.dart`، `lib/features/pos_terminal/data/remote/pos_terminal_api_service.dart`.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Cue (الاتجاه البصري):</a:t>
            </a:r>
          </a:p>
          <a:p>
            <a:r>
              <a:t>قائمة المنتجات مع نموذج المنتج وتبويبات التسعير والباركود والمتغيرات والمعدّلات والموردين.</a:t>
            </a:r>
          </a:p>
          <a:p/>
          <a:p>
            <a:r>
              <a:t>Presenter Notes (ملاحظة العرض):</a:t>
            </a:r>
          </a:p>
          <a:p>
            <a:r>
              <a:t>استخدم أسماء الحقول الفعلية من التطبيق. تجنب ادعاء عدد غير محدود من مستويات الفئات ما لم تؤكده حدود الخلفية.</a:t>
            </a:r>
          </a:p>
          <a:p/>
          <a:p>
            <a:r>
              <a:t>Code Reference Guide (الدليل المرجعي):</a:t>
            </a:r>
          </a:p>
          <a:p>
            <a:r>
              <a:t>`lib/features/catalog/models/product.dart`، `lib/features/catalog/data/remote/catalog_api_service.dart`، `lib/features/catalog/pages/product_form_page.dart`، `lib/features/predefined_catalog/data/remote/predefined_catalog_api_service.dart`.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Cue (الاتجاه البصري):</a:t>
            </a:r>
          </a:p>
          <a:p>
            <a:r>
              <a:t>شاشة المخزون مع قصاصة ثانية لتحويلات المخزون أو أوامر الشراء.</a:t>
            </a:r>
          </a:p>
          <a:p/>
          <a:p>
            <a:r>
              <a:t>Presenter Notes (ملاحظة العرض):</a:t>
            </a:r>
          </a:p>
          <a:p>
            <a:r>
              <a:t>اجعل الشريحة عملية وواضحة لما يمكن لمدير أو موظف مخزون تنفيذه فعلياً.</a:t>
            </a:r>
          </a:p>
          <a:p/>
          <a:p>
            <a:r>
              <a:t>Code Reference Guide (الدليل المرجعي):</a:t>
            </a:r>
          </a:p>
          <a:p>
            <a:r>
              <a:t>`lib/features/inventory/pages/`، `lib/features/inventory/data/remote/inventory_api_service.dart`، `lib/features/reports/data/remote/report_api_service.dart`.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Cue (الاتجاه البصري):</a:t>
            </a:r>
          </a:p>
          <a:p>
            <a:r>
              <a:t>نافذة الدفع، جلسة النقد، تفاصيل العميل، الولاء ورصيد المتجر، وشاشة التسوية.</a:t>
            </a:r>
          </a:p>
          <a:p/>
          <a:p>
            <a:r>
              <a:t>Presenter Notes (ملاحظة العرض):</a:t>
            </a:r>
          </a:p>
          <a:p>
            <a:r>
              <a:t>لا تذكر NearPay ما لم تضفها النسخة الحالية. الدليل الحالي في Flutter يثبت EdfaPay SoftPOS وPayTabs لمدفوعات المزوّد.</a:t>
            </a:r>
          </a:p>
          <a:p/>
          <a:p>
            <a:r>
              <a:t>Code Reference Guide (الدليل المرجعي):</a:t>
            </a:r>
          </a:p>
          <a:p>
            <a:r>
              <a:t>`lib/features/payments/data/remote/payment_api_service.dart`، `lib/features/payments/data/remote/installment_api_service.dart`، `lib/features/customers/data/remote/customer_api_service.dart`، `lib/features/debits/`، `lib/features/receivables/`، `lib/features/softpos/services/softpos_service.dart`.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Cue (الاتجاه البصري):</a:t>
            </a:r>
          </a:p>
          <a:p>
            <a:r>
              <a:t>قائمة العروض، إدارة الكوبونات، شاشة مجموعة العملاء أو الولاء، وحقل الكوبون في POS.</a:t>
            </a:r>
          </a:p>
          <a:p/>
          <a:p>
            <a:r>
              <a:t>Presenter Notes (ملاحظة العرض):</a:t>
            </a:r>
          </a:p>
          <a:p>
            <a:r>
              <a:t>اجعل الأمثلة عامة ولا تخترع أرقام حملات.</a:t>
            </a:r>
          </a:p>
          <a:p/>
          <a:p>
            <a:r>
              <a:t>Code Reference Guide (الدليل المرجعي):</a:t>
            </a:r>
          </a:p>
          <a:p>
            <a:r>
              <a:t>`lib/features/promotions/data/remote/promotion_api_service.dart`، `lib/features/promotions/pages/`، `lib/features/customers/data/remote/customer_api_service.dart`، `lib/features/pos_terminal/data/local/pos_offline_database.dart`.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Cue (الاتجاه البصري):</a:t>
            </a:r>
          </a:p>
          <a:p>
            <a:r>
              <a:t>قائمة أو تفاصيل الأدوار، نموذج أو تفاصيل الموظف، الحضور، تقويم الورديات، إعدادات الفرع، ومعالج التهيئة.</a:t>
            </a:r>
          </a:p>
          <a:p/>
          <a:p>
            <a:r>
              <a:t>Presenter Notes (ملاحظة العرض):</a:t>
            </a:r>
          </a:p>
          <a:p>
            <a:r>
              <a:t>هذه شريحة الأشخاص والإعدادات الرئيسية في Wameed POS. تجنب صفحات قوالب أدوار المزوّد الخاصة بإدارة المنصة.</a:t>
            </a:r>
          </a:p>
          <a:p/>
          <a:p>
            <a:r>
              <a:t>Code Reference Guide (الدليل المرجعي):</a:t>
            </a:r>
          </a:p>
          <a:p>
            <a:r>
              <a:t>`lib/features/staff/data/remote/staff_api_service.dart`، `lib/features/staff/data/remote/role_api_service.dart`، `lib/features/branches/data/remote/branch_api_service.dart`، `lib/features/onboarding/data/remote/onboarding_api_service.dart`، `lib/features/settings/data/remote/settings_api_service.dart`.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Cue (الاتجاه البصري):</a:t>
            </a:r>
          </a:p>
          <a:p>
            <a:r>
              <a:t>لوحة المالك، لوحة التقارير، سجل التصدير المحاسبي، لوحة ZATCA، وتقرير VAT.</a:t>
            </a:r>
          </a:p>
          <a:p/>
          <a:p>
            <a:r>
              <a:t>Presenter Notes (ملاحظة العرض):</a:t>
            </a:r>
          </a:p>
          <a:p>
            <a:r>
              <a:t>استخدم لغة "دعم" و"تدفقات عمل" ما لم توفر جهة الامتثال أو الشؤون القانونية نص اعتماد محدداً.</a:t>
            </a:r>
          </a:p>
          <a:p/>
          <a:p>
            <a:r>
              <a:t>Code Reference Guide (الدليل المرجعي):</a:t>
            </a:r>
          </a:p>
          <a:p>
            <a:r>
              <a:t>`lib/features/reports/data/remote/report_api_service.dart`، `lib/features/dashboard/data/remote/dashboard_api_service.dart`، `lib/features/accounting/data/remote/accounting_api_service.dart`، `lib/features/zatca/data/remote/zatca_api_service.dart`، `lib/features/settings/data/remote/config_api_service.dart`.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Cue (الاتجاه البصري):</a:t>
            </a:r>
          </a:p>
          <a:p>
            <a:r>
              <a:t>مصمم الملصقات، لوحة الأجهزة، شاشة العميل، صفحة التخصيص، مركز الإشعارات، وصفحة الدعم.</a:t>
            </a:r>
          </a:p>
          <a:p/>
          <a:p>
            <a:r>
              <a:t>Presenter Notes (ملاحظة العرض):</a:t>
            </a:r>
          </a:p>
          <a:p>
            <a:r>
              <a:t>لا تذكر علامات طابعات أو نماذج أجهزة محددة ما لم يؤكدها الكتالوج المعتمد.</a:t>
            </a:r>
          </a:p>
          <a:p/>
          <a:p>
            <a:r>
              <a:t>Code Reference Guide (الدليل المرجعي):</a:t>
            </a:r>
          </a:p>
          <a:p>
            <a:r>
              <a:t>`lib/features/labels/data/remote/label_api_service.dart`، `lib/features/hardware/data/remote/hardware_api_service.dart`، `lib/features/customer_facing_display/`، `lib/features/pos_customization/data/remote/customization_api_service.dart`، `lib/core/l10n/arb/`، `lib/features/notifications/`، `lib/features/support/`، `lib/features/auto_update/`.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Cue (الاتجاه البصري):</a:t>
            </a:r>
          </a:p>
          <a:p>
            <a:r>
              <a:t>تجميعة من وحدات القطاعات مع لقطات اقتراحات AI ولوحة متصدري الكاشير.</a:t>
            </a:r>
          </a:p>
          <a:p/>
          <a:p>
            <a:r>
              <a:t>Presenter Notes (ملاحظة العرض):</a:t>
            </a:r>
          </a:p>
          <a:p>
            <a:r>
              <a:t>هذه نهاية قسم Wameed POS.</a:t>
            </a:r>
          </a:p>
          <a:p/>
          <a:p>
            <a:r>
              <a:t>Code Reference Guide (الدليل المرجعي):</a:t>
            </a:r>
          </a:p>
          <a:p>
            <a:r>
              <a:t>`lib/features/industry_restaurant/`، `lib/features/industry_bakery/`، `lib/features/industry_pharmacy/`، `lib/features/industry_jewelry/`، `lib/features/industry_electronics/`، `lib/features/industry_florist/`، `lib/features/wameed_ai/`، `lib/features/cashier_gamification/`.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Cue (الاتجاه البصري):</a:t>
            </a:r>
          </a:p>
          <a:p>
            <a:r>
              <a:t>خاتمة نظيفة بكتلتين واضحتين للمنتجين، وصف أساس مشترك لسياق الفرع، الصلاحيات، الاشتراكات، التوطين، الإشعارات، والدعم.</a:t>
            </a:r>
          </a:p>
          <a:p/>
          <a:p>
            <a:r>
              <a:t>Presenter Notes (ملاحظة العرض):</a:t>
            </a:r>
          </a:p>
          <a:p>
            <a:r>
              <a:t>اختم بتأكيد فصل المنتجات والقيمة المشتركة.</a:t>
            </a:r>
          </a:p>
          <a:p/>
          <a:p>
            <a:r>
              <a:t>Code Reference Guide (الدليل المرجعي):</a:t>
            </a:r>
          </a:p>
          <a:p>
            <a:r>
              <a:t>`lib/core/widgets/pos_sidebar.dart`، `lib/features/pos_terminal/`، `lib/features/thawani_integration/`، `lib/features/delivery_integration/`.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FD82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0"/>
            <a:ext cx="137160" cy="6858000"/>
          </a:xfrm>
          <a:prstGeom prst="rect">
            <a:avLst/>
          </a:prstGeom>
          <a:solidFill>
            <a:srgbClr val="FFB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601200" cy="4114800"/>
          </a:xfrm>
          <a:prstGeom prst="rect">
            <a:avLst/>
          </a:prstGeom>
          <a:noFill/>
        </p:spPr>
        <p:txBody>
          <a:bodyPr wrap="square">
            <a:spAutoFit/>
          </a:bodyPr>
          <a:lstStyle/>
          <a:p>
            <a:pPr algn="r">
              <a:defRPr sz="1400" b="1" i="0">
                <a:solidFill>
                  <a:srgbClr val="FFBF0D"/>
                </a:solidFill>
                <a:latin typeface="Cairo"/>
              </a:defRPr>
            </a:pPr>
            <a:r>
              <a:t>عائلة منتجات WAMEED &amp; THAWANI</a:t>
            </a:r>
          </a:p>
          <a:p/>
          <a:p>
            <a:pPr algn="r">
              <a:defRPr sz="3600" b="1" i="0">
                <a:solidFill>
                  <a:srgbClr val="FFFFFF"/>
                </a:solidFill>
                <a:latin typeface="Cairo"/>
              </a:defRPr>
            </a:pPr>
            <a:r>
              <a:t>مجموعة Wameed/Thawani لتجارة المزوّدين</a:t>
            </a:r>
          </a:p>
          <a:p/>
          <a:p>
            <a:pPr algn="r">
              <a:defRPr sz="1600" b="0" i="0">
                <a:solidFill>
                  <a:srgbClr val="F8F7F5"/>
                </a:solidFill>
                <a:latin typeface="Cairo"/>
              </a:defRPr>
            </a:pPr>
            <a:r>
              <a:t>POS داخل المتجر، تشغيل الفروع، التجارة المتصلة، وأدوات نمو المزوّدين ضمن عائلة منتجات مبنية على Flutter.</a:t>
            </a:r>
          </a:p>
          <a:p/>
          <a:p>
            <a:pPr algn="r">
              <a:defRPr sz="1200" b="0" i="1">
                <a:solidFill>
                  <a:srgbClr val="FD8209"/>
                </a:solidFill>
                <a:latin typeface="Cairo"/>
              </a:defRPr>
            </a:pPr>
            <a:r>
              <a:t>بروشور تشغيلي متكامل للمزوّدين ومحطات البيع وإدارة القنوات الإلكترونية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7F5"/>
        </a:solidFill>
        <a:effectLst/>
      </p:bgPr>
    </p:bg>
    <p:spTree>
      <p:nvGrpSpPr>
        <p:cNvPr id="1" name=""/>
        <p:cNvGrpSpPr/>
        <p:nvPr/>
      </p:nvGrpSpPr>
      <p:grpSpPr/>
      <p:sp>
        <p:nvSpPr>
          <p:cNvPr id="2" name="TextBox 1"/>
          <p:cNvSpPr txBox="1"/>
          <p:nvPr/>
        </p:nvSpPr>
        <p:spPr>
          <a:xfrm>
            <a:off x="603504" y="365760"/>
            <a:ext cx="10972800" cy="1097280"/>
          </a:xfrm>
          <a:prstGeom prst="rect">
            <a:avLst/>
          </a:prstGeom>
          <a:noFill/>
        </p:spPr>
        <p:txBody>
          <a:bodyPr wrap="square" lIns="0" rIns="0" tIns="0" bIns="0">
            <a:spAutoFit/>
          </a:bodyPr>
          <a:lstStyle/>
          <a:p>
            <a:pPr algn="r">
              <a:defRPr sz="1200" b="1">
                <a:solidFill>
                  <a:srgbClr val="FD8209"/>
                </a:solidFill>
                <a:latin typeface="Cairo"/>
              </a:defRPr>
            </a:pPr>
            <a:r>
              <a:t>02  |</a:t>
            </a:r>
          </a:p>
          <a:p>
            <a:pPr algn="r">
              <a:defRPr sz="2200" b="1">
                <a:solidFill>
                  <a:srgbClr val="0F172A"/>
                </a:solidFill>
                <a:latin typeface="Cairo"/>
              </a:defRPr>
            </a:pPr>
            <a:r>
              <a:t>أدوات تجارة للمزوّدين</a:t>
            </a:r>
          </a:p>
          <a:p>
            <a:pPr algn="r">
              <a:defRPr sz="1100">
                <a:solidFill>
                  <a:srgbClr val="475569"/>
                </a:solidFill>
                <a:latin typeface="Cairo"/>
              </a:defRPr>
            </a:pPr>
            <a:r>
              <a:t>تساعد عائلة المنتجات المتاجر على البيع، إدارة العمليات، الالتزام بالمتطلبات، والاتصال بقنوات الطلب الخارجية دون الانتقال بين أنظمة منفصلة.</a:t>
            </a:r>
          </a:p>
        </p:txBody>
      </p:sp>
      <p:sp>
        <p:nvSpPr>
          <p:cNvPr id="3" name="Rounded Rectangle 2"/>
          <p:cNvSpPr/>
          <p:nvPr/>
        </p:nvSpPr>
        <p:spPr>
          <a:xfrm>
            <a:off x="603504" y="1737360"/>
            <a:ext cx="2560320" cy="4389120"/>
          </a:xfrm>
          <a:prstGeom prst="roundRect">
            <a:avLst/>
          </a:prstGeom>
          <a:solidFill>
            <a:srgbClr val="FFFFFF"/>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94944" y="1828800"/>
            <a:ext cx="2377440" cy="137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2103120"/>
            <a:ext cx="2377440" cy="3931920"/>
          </a:xfrm>
          <a:prstGeom prst="rect">
            <a:avLst/>
          </a:prstGeom>
          <a:noFill/>
        </p:spPr>
        <p:txBody>
          <a:bodyPr wrap="square">
            <a:spAutoFit/>
          </a:bodyPr>
          <a:lstStyle/>
          <a:p>
            <a:pPr algn="r">
              <a:defRPr sz="1400" b="1" i="0">
                <a:solidFill>
                  <a:srgbClr val="0F172A"/>
                </a:solidFill>
                <a:latin typeface="Cairo"/>
              </a:defRPr>
            </a:pPr>
            <a:r>
              <a:t>الأساس الموثوق (4)</a:t>
            </a:r>
          </a:p>
          <a:p/>
          <a:p>
            <a:pPr algn="r">
              <a:defRPr sz="1100" b="0" i="0">
                <a:solidFill>
                  <a:srgbClr val="0F172A"/>
                </a:solidFill>
                <a:latin typeface="Cairo"/>
              </a:defRPr>
            </a:pPr>
            <a:r>
              <a:t>أساس موثوق: بيانات POS بأسلوب offline-first، APIs المزامنة، سياق الفرع، الصلاحيات، بوابات الميزات، التوطين، الإشعارات، وتدفقات الدعم.</a:t>
            </a:r>
          </a:p>
        </p:txBody>
      </p:sp>
      <p:sp>
        <p:nvSpPr>
          <p:cNvPr id="6" name="Rounded Rectangle 5"/>
          <p:cNvSpPr/>
          <p:nvPr/>
        </p:nvSpPr>
        <p:spPr>
          <a:xfrm>
            <a:off x="3346704" y="1737360"/>
            <a:ext cx="2560320" cy="4389120"/>
          </a:xfrm>
          <a:prstGeom prst="roundRect">
            <a:avLst/>
          </a:prstGeom>
          <a:solidFill>
            <a:srgbClr val="FFFFFF"/>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38144" y="1828800"/>
            <a:ext cx="2377440" cy="137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38144" y="2103120"/>
            <a:ext cx="2377440" cy="3931920"/>
          </a:xfrm>
          <a:prstGeom prst="rect">
            <a:avLst/>
          </a:prstGeom>
          <a:noFill/>
        </p:spPr>
        <p:txBody>
          <a:bodyPr wrap="square">
            <a:spAutoFit/>
          </a:bodyPr>
          <a:lstStyle/>
          <a:p>
            <a:pPr algn="r">
              <a:defRPr sz="1400" b="1" i="0">
                <a:solidFill>
                  <a:srgbClr val="0F172A"/>
                </a:solidFill>
                <a:latin typeface="Cairo"/>
              </a:defRPr>
            </a:pPr>
            <a:r>
              <a:t>الطلب الإلكتروني (3)</a:t>
            </a:r>
          </a:p>
          <a:p/>
          <a:p>
            <a:pPr algn="r">
              <a:defRPr sz="1100" b="0" i="0">
                <a:solidFill>
                  <a:srgbClr val="0F172A"/>
                </a:solidFill>
                <a:latin typeface="Cairo"/>
              </a:defRPr>
            </a:pPr>
            <a:r>
              <a:t>نمو متصل: توسع وحدات Thawani وقنوات التوصيل عمليات المتجر إلى القوائم الإلكترونية، طلبات السوق، المزامنة، والتسويات.</a:t>
            </a:r>
          </a:p>
        </p:txBody>
      </p:sp>
      <p:sp>
        <p:nvSpPr>
          <p:cNvPr id="9" name="Rounded Rectangle 8"/>
          <p:cNvSpPr/>
          <p:nvPr/>
        </p:nvSpPr>
        <p:spPr>
          <a:xfrm>
            <a:off x="6089904" y="1737360"/>
            <a:ext cx="2560320" cy="4389120"/>
          </a:xfrm>
          <a:prstGeom prst="roundRect">
            <a:avLst/>
          </a:prstGeom>
          <a:solidFill>
            <a:srgbClr val="FFFFFF"/>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81344" y="1828800"/>
            <a:ext cx="2377440" cy="137160"/>
          </a:xfrm>
          <a:prstGeom prst="rect">
            <a:avLst/>
          </a:prstGeom>
          <a:solidFill>
            <a:srgbClr val="FD82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1344" y="2103120"/>
            <a:ext cx="2377440" cy="3931920"/>
          </a:xfrm>
          <a:prstGeom prst="rect">
            <a:avLst/>
          </a:prstGeom>
          <a:noFill/>
        </p:spPr>
        <p:txBody>
          <a:bodyPr wrap="square">
            <a:spAutoFit/>
          </a:bodyPr>
          <a:lstStyle/>
          <a:p>
            <a:pPr algn="r">
              <a:defRPr sz="1400" b="1" i="0">
                <a:solidFill>
                  <a:srgbClr val="FD8209"/>
                </a:solidFill>
                <a:latin typeface="Cairo"/>
              </a:defRPr>
            </a:pPr>
            <a:r>
              <a:t>العمق التشغيلي (2)</a:t>
            </a:r>
          </a:p>
          <a:p/>
          <a:p>
            <a:pPr algn="r">
              <a:defRPr sz="1100" b="0" i="0">
                <a:solidFill>
                  <a:srgbClr val="0F172A"/>
                </a:solidFill>
                <a:latin typeface="Cairo"/>
              </a:defRPr>
            </a:pPr>
            <a:r>
              <a:t>عمق تشغيلي: البيع، الكتالوج، المخزون، الموظفون، التقارير، المدفوعات، الضريبة، الأجهزة، الدعم، وتدفقات القطاعات موجودة داخل تطبيق المزوّد.</a:t>
            </a:r>
          </a:p>
        </p:txBody>
      </p:sp>
      <p:sp>
        <p:nvSpPr>
          <p:cNvPr id="12" name="Rounded Rectangle 11"/>
          <p:cNvSpPr/>
          <p:nvPr/>
        </p:nvSpPr>
        <p:spPr>
          <a:xfrm>
            <a:off x="8833104" y="1737360"/>
            <a:ext cx="2560320" cy="4389120"/>
          </a:xfrm>
          <a:prstGeom prst="roundRect">
            <a:avLst/>
          </a:prstGeom>
          <a:solidFill>
            <a:srgbClr val="FFFFFF"/>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924544" y="1828800"/>
            <a:ext cx="2377440" cy="137160"/>
          </a:xfrm>
          <a:prstGeom prst="rect">
            <a:avLst/>
          </a:prstGeom>
          <a:solidFill>
            <a:srgbClr val="FD82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24544" y="2103120"/>
            <a:ext cx="2377440" cy="3931920"/>
          </a:xfrm>
          <a:prstGeom prst="rect">
            <a:avLst/>
          </a:prstGeom>
          <a:noFill/>
        </p:spPr>
        <p:txBody>
          <a:bodyPr wrap="square">
            <a:spAutoFit/>
          </a:bodyPr>
          <a:lstStyle/>
          <a:p>
            <a:pPr algn="r">
              <a:defRPr sz="1400" b="1" i="0">
                <a:solidFill>
                  <a:srgbClr val="FD8209"/>
                </a:solidFill>
                <a:latin typeface="Cairo"/>
              </a:defRPr>
            </a:pPr>
            <a:r>
              <a:t>البيع والـ POS (1)</a:t>
            </a:r>
          </a:p>
          <a:p/>
          <a:p>
            <a:pPr algn="r">
              <a:defRPr sz="1100" b="0" i="0">
                <a:solidFill>
                  <a:srgbClr val="0F172A"/>
                </a:solidFill>
                <a:latin typeface="Cairo"/>
              </a:defRPr>
            </a:pPr>
            <a:r>
              <a:t>موجهة للمزوّد أولاً: مبنية حول فرق المتجر، مدراء الفروع، الكاشير، موظفي المخزون، المحاسبين، والمشغلين.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7F5"/>
        </a:solidFill>
        <a:effectLst/>
      </p:bgPr>
    </p:bg>
    <p:spTree>
      <p:nvGrpSpPr>
        <p:cNvPr id="1" name=""/>
        <p:cNvGrpSpPr/>
        <p:nvPr/>
      </p:nvGrpSpPr>
      <p:grpSpPr/>
      <p:sp>
        <p:nvSpPr>
          <p:cNvPr id="2" name="TextBox 1"/>
          <p:cNvSpPr txBox="1"/>
          <p:nvPr/>
        </p:nvSpPr>
        <p:spPr>
          <a:xfrm>
            <a:off x="603504" y="365760"/>
            <a:ext cx="10972800" cy="1097280"/>
          </a:xfrm>
          <a:prstGeom prst="rect">
            <a:avLst/>
          </a:prstGeom>
          <a:noFill/>
        </p:spPr>
        <p:txBody>
          <a:bodyPr wrap="square" lIns="0" rIns="0" tIns="0" bIns="0">
            <a:spAutoFit/>
          </a:bodyPr>
          <a:lstStyle/>
          <a:p>
            <a:pPr algn="r">
              <a:defRPr sz="1200" b="1">
                <a:solidFill>
                  <a:srgbClr val="FD8209"/>
                </a:solidFill>
                <a:latin typeface="Cairo"/>
              </a:defRPr>
            </a:pPr>
            <a:r>
              <a:t>03  |</a:t>
            </a:r>
          </a:p>
          <a:p>
            <a:pPr algn="r">
              <a:defRPr sz="2200" b="1">
                <a:solidFill>
                  <a:srgbClr val="0F172A"/>
                </a:solidFill>
                <a:latin typeface="Cairo"/>
              </a:defRPr>
            </a:pPr>
            <a:r>
              <a:t>منتجان داخل سير عمل واحد للمزوّد</a:t>
            </a:r>
          </a:p>
          <a:p>
            <a:pPr algn="r">
              <a:defRPr sz="1100">
                <a:solidFill>
                  <a:srgbClr val="475569"/>
                </a:solidFill>
                <a:latin typeface="Cairo"/>
              </a:defRPr>
            </a:pPr>
            <a:r>
              <a:t>Thawani Connected Commerce يدير السوق الإلكتروني وقنوات الطلبات. Wameed POS يدير عمليات المتجر اليومية.</a:t>
            </a:r>
          </a:p>
        </p:txBody>
      </p:sp>
      <p:sp>
        <p:nvSpPr>
          <p:cNvPr id="3" name="Rounded Rectangle 2"/>
          <p:cNvSpPr/>
          <p:nvPr/>
        </p:nvSpPr>
        <p:spPr>
          <a:xfrm>
            <a:off x="6272784" y="1645920"/>
            <a:ext cx="5303520" cy="3291840"/>
          </a:xfrm>
          <a:prstGeom prst="roundRect">
            <a:avLst/>
          </a:prstGeom>
          <a:solidFill>
            <a:srgbClr val="FFFFFF"/>
          </a:solidFill>
          <a:ln w="12700">
            <a:solidFill>
              <a:srgbClr val="FD82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9944" y="1783080"/>
            <a:ext cx="5029200" cy="182880"/>
          </a:xfrm>
          <a:prstGeom prst="rect">
            <a:avLst/>
          </a:prstGeom>
          <a:solidFill>
            <a:srgbClr val="FD82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9944" y="2057400"/>
            <a:ext cx="5029200" cy="2743200"/>
          </a:xfrm>
          <a:prstGeom prst="rect">
            <a:avLst/>
          </a:prstGeom>
          <a:noFill/>
        </p:spPr>
        <p:txBody>
          <a:bodyPr wrap="square">
            <a:spAutoFit/>
          </a:bodyPr>
          <a:lstStyle/>
          <a:p>
            <a:pPr algn="r">
              <a:defRPr sz="1500" b="1" i="0">
                <a:solidFill>
                  <a:srgbClr val="FD8209"/>
                </a:solidFill>
                <a:latin typeface="Cairo"/>
              </a:defRPr>
            </a:pPr>
            <a:r>
              <a:t>المنتج الأول: Thawani Connected Commerce</a:t>
            </a:r>
          </a:p>
          <a:p>
            <a:pPr algn="r">
              <a:defRPr sz="1100" b="0" i="0">
                <a:solidFill>
                  <a:srgbClr val="0F172A"/>
                </a:solidFill>
                <a:latin typeface="Cairo"/>
              </a:defRPr>
            </a:pPr>
            <a:r>
              <a:t>المنتج الأول: Thawani Connected Commerce. طبقة قنوات من جهة المزوّد للقائمة الإلكترونية، طلبات السوق، ربط المنتجات والفئات، التسويات، توفر المتجر، معالجة قوائم الانتظار، مزامنة المخزون، وعمليات قنوات التوصيل.</a:t>
            </a:r>
          </a:p>
        </p:txBody>
      </p:sp>
      <p:sp>
        <p:nvSpPr>
          <p:cNvPr id="6" name="Rounded Rectangle 5"/>
          <p:cNvSpPr/>
          <p:nvPr/>
        </p:nvSpPr>
        <p:spPr>
          <a:xfrm>
            <a:off x="603504" y="1645920"/>
            <a:ext cx="5303520" cy="329184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0664" y="1783080"/>
            <a:ext cx="5029200" cy="1828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2057400"/>
            <a:ext cx="5029200" cy="2743200"/>
          </a:xfrm>
          <a:prstGeom prst="rect">
            <a:avLst/>
          </a:prstGeom>
          <a:noFill/>
        </p:spPr>
        <p:txBody>
          <a:bodyPr wrap="square">
            <a:spAutoFit/>
          </a:bodyPr>
          <a:lstStyle/>
          <a:p>
            <a:pPr algn="r">
              <a:defRPr sz="1500" b="1" i="0">
                <a:solidFill>
                  <a:srgbClr val="0F172A"/>
                </a:solidFill>
                <a:latin typeface="Cairo"/>
              </a:defRPr>
            </a:pPr>
            <a:r>
              <a:t>المنتج الثاني: Wameed POS</a:t>
            </a:r>
          </a:p>
          <a:p>
            <a:pPr algn="r">
              <a:defRPr sz="1100" b="0" i="0">
                <a:solidFill>
                  <a:srgbClr val="0F172A"/>
                </a:solidFill>
                <a:latin typeface="Cairo"/>
              </a:defRPr>
            </a:pPr>
            <a:r>
              <a:t>المنتج الثاني: Wameed POS. تطبيق مزوّد للبيع، الكتالوج، المخزون، المدفوعات، الموظفين، التقارير، الامتثال، الأجهزة، الإعدادات، الدعم، وتدفقات القطاعات.</a:t>
            </a:r>
          </a:p>
        </p:txBody>
      </p:sp>
      <p:sp>
        <p:nvSpPr>
          <p:cNvPr id="9" name="Rounded Rectangle 8"/>
          <p:cNvSpPr/>
          <p:nvPr/>
        </p:nvSpPr>
        <p:spPr>
          <a:xfrm>
            <a:off x="603504" y="5120640"/>
            <a:ext cx="10972800" cy="1188720"/>
          </a:xfrm>
          <a:prstGeom prst="roundRect">
            <a:avLst/>
          </a:prstGeom>
          <a:solidFill>
            <a:srgbClr val="F0F0F0"/>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5257800"/>
            <a:ext cx="10607040" cy="914400"/>
          </a:xfrm>
          <a:prstGeom prst="rect">
            <a:avLst/>
          </a:prstGeom>
          <a:noFill/>
        </p:spPr>
        <p:txBody>
          <a:bodyPr wrap="square">
            <a:spAutoFit/>
          </a:bodyPr>
          <a:lstStyle/>
          <a:p>
            <a:pPr algn="r">
              <a:defRPr sz="1300" b="1" i="0">
                <a:solidFill>
                  <a:srgbClr val="0F172A"/>
                </a:solidFill>
                <a:latin typeface="Cairo"/>
              </a:defRPr>
            </a:pPr>
            <a:r>
              <a:t>الأساس والخدمات الموحدة المشتركة</a:t>
            </a:r>
          </a:p>
          <a:p>
            <a:pPr algn="r">
              <a:defRPr sz="1100" b="0" i="0">
                <a:solidFill>
                  <a:srgbClr val="475569"/>
                </a:solidFill>
                <a:latin typeface="Cairo"/>
              </a:defRPr>
            </a:pPr>
            <a:r>
              <a:t>الأساس المشترك: اختيار الفرع، الصلاحيات، بوابات الميزات، الإشعارات، التوطين، اشتراكات المزوّد، والدعم.</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7F5"/>
        </a:solidFill>
        <a:effectLst/>
      </p:bgPr>
    </p:bg>
    <p:spTree>
      <p:nvGrpSpPr>
        <p:cNvPr id="1" name=""/>
        <p:cNvGrpSpPr/>
        <p:nvPr/>
      </p:nvGrpSpPr>
      <p:grpSpPr/>
      <p:sp>
        <p:nvSpPr>
          <p:cNvPr id="2" name="TextBox 1"/>
          <p:cNvSpPr txBox="1"/>
          <p:nvPr/>
        </p:nvSpPr>
        <p:spPr>
          <a:xfrm>
            <a:off x="603504" y="365760"/>
            <a:ext cx="10972800" cy="1097280"/>
          </a:xfrm>
          <a:prstGeom prst="rect">
            <a:avLst/>
          </a:prstGeom>
          <a:noFill/>
        </p:spPr>
        <p:txBody>
          <a:bodyPr wrap="square" lIns="0" rIns="0" tIns="0" bIns="0">
            <a:spAutoFit/>
          </a:bodyPr>
          <a:lstStyle/>
          <a:p>
            <a:pPr algn="r">
              <a:defRPr sz="1200" b="1">
                <a:solidFill>
                  <a:srgbClr val="FD8209"/>
                </a:solidFill>
                <a:latin typeface="Cairo"/>
              </a:defRPr>
            </a:pPr>
            <a:r>
              <a:t>04  |</a:t>
            </a:r>
          </a:p>
          <a:p>
            <a:pPr algn="r">
              <a:defRPr sz="2200" b="1">
                <a:solidFill>
                  <a:srgbClr val="0F172A"/>
                </a:solidFill>
                <a:latin typeface="Cairo"/>
              </a:defRPr>
            </a:pPr>
            <a:r>
              <a:t>من أرضية المتجر إلى القنوات الإلكترونية</a:t>
            </a:r>
          </a:p>
          <a:p>
            <a:pPr algn="r">
              <a:defRPr sz="1100">
                <a:solidFill>
                  <a:srgbClr val="475569"/>
                </a:solidFill>
                <a:latin typeface="Cairo"/>
              </a:defRPr>
            </a:pPr>
            <a:r>
              <a:t>تتبع المجموعة يوم عمل المزوّد: فتح المتجر، البيع في POS، إدارة المخزون والفرق، مراجعة التقارير، الامتثال، ثم ربط المنتجات والطلبات بالقنوات الإلكترونية.</a:t>
            </a:r>
          </a:p>
        </p:txBody>
      </p:sp>
      <p:sp>
        <p:nvSpPr>
          <p:cNvPr id="3" name="Rounded Rectangle 2"/>
          <p:cNvSpPr/>
          <p:nvPr/>
        </p:nvSpPr>
        <p:spPr>
          <a:xfrm>
            <a:off x="8101584" y="2011680"/>
            <a:ext cx="3383280" cy="393192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93024" y="2103120"/>
            <a:ext cx="3200400" cy="137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93024" y="2331720"/>
            <a:ext cx="3200400" cy="3520440"/>
          </a:xfrm>
          <a:prstGeom prst="rect">
            <a:avLst/>
          </a:prstGeom>
          <a:noFill/>
        </p:spPr>
        <p:txBody>
          <a:bodyPr wrap="square">
            <a:spAutoFit/>
          </a:bodyPr>
          <a:lstStyle/>
          <a:p>
            <a:pPr algn="r">
              <a:defRPr sz="1400" b="1" i="0">
                <a:solidFill>
                  <a:srgbClr val="0F172A"/>
                </a:solidFill>
                <a:latin typeface="Cairo"/>
              </a:defRPr>
            </a:pPr>
            <a:r>
              <a:t>1. أرضية المتجر والبيع المباشر</a:t>
            </a:r>
          </a:p>
          <a:p/>
          <a:p>
            <a:pPr algn="r">
              <a:defRPr sz="1100" b="0" i="0">
                <a:solidFill>
                  <a:srgbClr val="0F172A"/>
                </a:solidFill>
                <a:latin typeface="Cairo"/>
              </a:defRPr>
            </a:pPr>
            <a:r>
              <a:t>يتم تشغيل القنوات الإلكترونية في Thawani Connected Commerce: نشر المنتجات، مزامنة القائمة، طلبات السوق، التوفر، التسويات، وسجلات القنوات.</a:t>
            </a:r>
          </a:p>
        </p:txBody>
      </p:sp>
      <p:sp>
        <p:nvSpPr>
          <p:cNvPr id="6" name="Left Arrow 5"/>
          <p:cNvSpPr/>
          <p:nvPr/>
        </p:nvSpPr>
        <p:spPr>
          <a:xfrm>
            <a:off x="7827264" y="3840480"/>
            <a:ext cx="182880" cy="274320"/>
          </a:xfrm>
          <a:prstGeom prst="leftArrow">
            <a:avLst/>
          </a:prstGeom>
          <a:solidFill>
            <a:srgbClr val="FFB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52544" y="2011680"/>
            <a:ext cx="3383280" cy="3931920"/>
          </a:xfrm>
          <a:prstGeom prst="roundRect">
            <a:avLst/>
          </a:prstGeom>
          <a:solidFill>
            <a:srgbClr val="FFFFFF"/>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43984" y="2103120"/>
            <a:ext cx="3200400" cy="13716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43984" y="2331720"/>
            <a:ext cx="3200400" cy="3520440"/>
          </a:xfrm>
          <a:prstGeom prst="rect">
            <a:avLst/>
          </a:prstGeom>
          <a:noFill/>
        </p:spPr>
        <p:txBody>
          <a:bodyPr wrap="square">
            <a:spAutoFit/>
          </a:bodyPr>
          <a:lstStyle/>
          <a:p>
            <a:pPr algn="r">
              <a:defRPr sz="1400" b="1" i="0">
                <a:solidFill>
                  <a:srgbClr val="475569"/>
                </a:solidFill>
                <a:latin typeface="Cairo"/>
              </a:defRPr>
            </a:pPr>
            <a:r>
              <a:t>2. التحكم المتكامل والخصائص المشتركة</a:t>
            </a:r>
          </a:p>
          <a:p/>
          <a:p>
            <a:pPr algn="r">
              <a:defRPr sz="1100" b="0" i="0">
                <a:solidFill>
                  <a:srgbClr val="0F172A"/>
                </a:solidFill>
                <a:latin typeface="Cairo"/>
              </a:defRPr>
            </a:pPr>
            <a:r>
              <a:t>يستمر تشغيل المتجر في Wameed POS: جلسات الكاشير، كتالوج المنتجات، المخزون، المدفوعات، العملاء، الموظفون، التقارير، ZATCA، والأجهزة.</a:t>
            </a:r>
          </a:p>
        </p:txBody>
      </p:sp>
      <p:sp>
        <p:nvSpPr>
          <p:cNvPr id="10" name="Left Arrow 9"/>
          <p:cNvSpPr/>
          <p:nvPr/>
        </p:nvSpPr>
        <p:spPr>
          <a:xfrm>
            <a:off x="4078224" y="3840480"/>
            <a:ext cx="182880" cy="274320"/>
          </a:xfrm>
          <a:prstGeom prst="leftArrow">
            <a:avLst/>
          </a:prstGeom>
          <a:solidFill>
            <a:srgbClr val="FFB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 y="2011680"/>
            <a:ext cx="3383280" cy="3931920"/>
          </a:xfrm>
          <a:prstGeom prst="roundRect">
            <a:avLst/>
          </a:prstGeom>
          <a:solidFill>
            <a:srgbClr val="FFFFFF"/>
          </a:solidFill>
          <a:ln w="12700">
            <a:solidFill>
              <a:srgbClr val="FD82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4944" y="2103120"/>
            <a:ext cx="3200400" cy="137160"/>
          </a:xfrm>
          <a:prstGeom prst="rect">
            <a:avLst/>
          </a:prstGeom>
          <a:solidFill>
            <a:srgbClr val="FD82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2331720"/>
            <a:ext cx="3200400" cy="3520440"/>
          </a:xfrm>
          <a:prstGeom prst="rect">
            <a:avLst/>
          </a:prstGeom>
          <a:noFill/>
        </p:spPr>
        <p:txBody>
          <a:bodyPr wrap="square">
            <a:spAutoFit/>
          </a:bodyPr>
          <a:lstStyle/>
          <a:p>
            <a:pPr algn="r">
              <a:defRPr sz="1400" b="1" i="0">
                <a:solidFill>
                  <a:srgbClr val="FD8209"/>
                </a:solidFill>
                <a:latin typeface="Cairo"/>
              </a:defRPr>
            </a:pPr>
            <a:r>
              <a:t>3. التجارة الإلكترونية المتصلة</a:t>
            </a:r>
          </a:p>
          <a:p/>
          <a:p>
            <a:pPr algn="r">
              <a:defRPr sz="1100" b="0" i="0">
                <a:solidFill>
                  <a:srgbClr val="0F172A"/>
                </a:solidFill>
                <a:latin typeface="Cairo"/>
              </a:defRPr>
            </a:pPr>
            <a:r>
              <a:t>يحافظ تطبيق المزوّد على الصلاحيات، سياق الفرع، الوصول حسب الاشتراك، اللغة، الإشعارات، والدعم بشكل موحد عبر التجربة.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7F5"/>
        </a:solidFill>
        <a:effectLst/>
      </p:bgPr>
    </p:bg>
    <p:spTree>
      <p:nvGrpSpPr>
        <p:cNvPr id="1" name=""/>
        <p:cNvGrpSpPr/>
        <p:nvPr/>
      </p:nvGrpSpPr>
      <p:grpSpPr/>
      <p:sp>
        <p:nvSpPr>
          <p:cNvPr id="2" name="TextBox 1"/>
          <p:cNvSpPr txBox="1"/>
          <p:nvPr/>
        </p:nvSpPr>
        <p:spPr>
          <a:xfrm>
            <a:off x="603504" y="365760"/>
            <a:ext cx="10972800" cy="1097280"/>
          </a:xfrm>
          <a:prstGeom prst="rect">
            <a:avLst/>
          </a:prstGeom>
          <a:noFill/>
        </p:spPr>
        <p:txBody>
          <a:bodyPr wrap="square" lIns="0" rIns="0" tIns="0" bIns="0">
            <a:spAutoFit/>
          </a:bodyPr>
          <a:lstStyle/>
          <a:p>
            <a:pPr algn="r">
              <a:defRPr sz="1200" b="1">
                <a:solidFill>
                  <a:srgbClr val="FD8209"/>
                </a:solidFill>
                <a:latin typeface="Cairo"/>
              </a:defRPr>
            </a:pPr>
            <a:r>
              <a:t>05  |</a:t>
            </a:r>
          </a:p>
          <a:p>
            <a:pPr algn="r">
              <a:defRPr sz="2200" b="1">
                <a:solidFill>
                  <a:srgbClr val="0F172A"/>
                </a:solidFill>
                <a:latin typeface="Cairo"/>
              </a:defRPr>
            </a:pPr>
            <a:r>
              <a:t>المنتج الأول - Thawani Connected Commerce</a:t>
            </a:r>
          </a:p>
          <a:p>
            <a:pPr algn="r">
              <a:defRPr sz="1100">
                <a:solidFill>
                  <a:srgbClr val="475569"/>
                </a:solidFill>
                <a:latin typeface="Cairo"/>
              </a:defRPr>
            </a:pPr>
            <a:r>
              <a:t>طبقة قنوات من جهة المزوّد للقائمة الإلكترونية، طلبات السوق، ربط المنتجات، التسويات، توفر المتجر، ومزامنة المخزون.</a:t>
            </a:r>
          </a:p>
        </p:txBody>
      </p:sp>
      <p:sp>
        <p:nvSpPr>
          <p:cNvPr id="3" name="TextBox 2"/>
          <p:cNvSpPr txBox="1"/>
          <p:nvPr/>
        </p:nvSpPr>
        <p:spPr>
          <a:xfrm>
            <a:off x="5943600" y="1645920"/>
            <a:ext cx="5632704" cy="4572000"/>
          </a:xfrm>
          <a:prstGeom prst="rect">
            <a:avLst/>
          </a:prstGeom>
          <a:noFill/>
        </p:spPr>
        <p:txBody>
          <a:bodyPr wrap="square">
            <a:spAutoFit/>
          </a:bodyPr>
          <a:lstStyle/>
          <a:p>
            <a:pPr algn="r">
              <a:defRPr sz="1400" b="1" i="0">
                <a:solidFill>
                  <a:srgbClr val="FD8209"/>
                </a:solidFill>
                <a:latin typeface="Cairo"/>
              </a:defRPr>
            </a:pPr>
            <a:r>
              <a:t>الميزات والعمليات الرئيسية</a:t>
            </a:r>
          </a:p>
          <a:p/>
          <a:p>
            <a:pPr algn="r">
              <a:defRPr sz="1200" b="0" i="0">
                <a:solidFill>
                  <a:srgbClr val="0F172A"/>
                </a:solidFill>
                <a:latin typeface="Cairo"/>
              </a:defRPr>
            </a:pPr>
            <a:r>
              <a:t>• تدعم وحدة Thawani إحصائيات اللوحة، الإعداد، اختبار الاتصال، الطلبات، القبول والرفض وتحديث الحالة، الربط، التسويات، دفع وسحب المنتجات والفئات، سجلات المزامنة، إحصائيات قائمة الانتظار، معالجة القائمة، نشر القائمة الإلكترونية، النشر الجماعي، توفر المتجر، ومزامنة المخزون.</a:t>
            </a:r>
          </a:p>
          <a:p>
            <a:pPr>
              <a:defRPr sz="600"/>
            </a:pPr>
          </a:p>
          <a:p>
            <a:pPr algn="r">
              <a:defRPr sz="1200" b="0" i="0">
                <a:solidFill>
                  <a:srgbClr val="0F172A"/>
                </a:solidFill>
                <a:latin typeface="Cairo"/>
              </a:defRPr>
            </a:pPr>
            <a:r>
              <a:t>• يربط ربط المنتجات والفئات كتالوج المزوّد بطبقة القنوات الإلكترونية.</a:t>
            </a:r>
          </a:p>
          <a:p>
            <a:pPr>
              <a:defRPr sz="600"/>
            </a:pPr>
          </a:p>
          <a:p>
            <a:pPr algn="r">
              <a:defRPr sz="1200" b="0" i="0">
                <a:solidFill>
                  <a:srgbClr val="0F172A"/>
                </a:solidFill>
                <a:latin typeface="Cairo"/>
              </a:defRPr>
            </a:pPr>
            <a:r>
              <a:t>• يساعد توفر المتجر ونشر القائمة المزوّد على التحكم بما يظهر إلكترونياً.</a:t>
            </a:r>
          </a:p>
          <a:p>
            <a:pPr>
              <a:defRPr sz="600"/>
            </a:pPr>
          </a:p>
          <a:p>
            <a:pPr algn="r">
              <a:defRPr sz="1200" b="0" i="0">
                <a:solidFill>
                  <a:srgbClr val="0F172A"/>
                </a:solidFill>
                <a:latin typeface="Cairo"/>
              </a:defRPr>
            </a:pPr>
            <a:r>
              <a:t>• تمنح التسويات وسجلات المزامنة الفرق رؤية تشغيلية بعد معالجة الطلبات.</a:t>
            </a:r>
          </a:p>
          <a:p>
            <a:pPr>
              <a:defRPr sz="600"/>
            </a:pPr>
          </a:p>
        </p:txBody>
      </p:sp>
      <p:sp>
        <p:nvSpPr>
          <p:cNvPr id="4" name="Rounded Rectangle 3"/>
          <p:cNvSpPr/>
          <p:nvPr/>
        </p:nvSpPr>
        <p:spPr>
          <a:xfrm>
            <a:off x="603504" y="1645920"/>
            <a:ext cx="5029200" cy="4572000"/>
          </a:xfrm>
          <a:prstGeom prst="roundRect">
            <a:avLst/>
          </a:prstGeom>
          <a:solidFill>
            <a:srgbClr val="FFFFFF"/>
          </a:solidFill>
          <a:ln w="12700">
            <a:solidFill>
              <a:srgbClr val="FD82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0664" y="1783080"/>
            <a:ext cx="4754880" cy="365760"/>
          </a:xfrm>
          <a:prstGeom prst="rect">
            <a:avLst/>
          </a:prstGeom>
          <a:solidFill>
            <a:srgbClr val="FD82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755648"/>
            <a:ext cx="4754880" cy="365760"/>
          </a:xfrm>
          <a:prstGeom prst="rect">
            <a:avLst/>
          </a:prstGeom>
          <a:noFill/>
        </p:spPr>
        <p:txBody>
          <a:bodyPr wrap="none">
            <a:spAutoFit/>
          </a:bodyPr>
          <a:lstStyle/>
          <a:p>
            <a:pPr algn="ctr">
              <a:defRPr sz="1000" b="1" i="0">
                <a:solidFill>
                  <a:srgbClr val="FFFFFF"/>
                </a:solidFill>
                <a:latin typeface="Cairo"/>
              </a:defRPr>
            </a:pPr>
            <a:r>
              <a:t>محاكاة واجهة التطبيق | App UI Mockup</a:t>
            </a:r>
          </a:p>
        </p:txBody>
      </p:sp>
      <p:sp>
        <p:nvSpPr>
          <p:cNvPr id="7" name="Rectangle 6"/>
          <p:cNvSpPr/>
          <p:nvPr/>
        </p:nvSpPr>
        <p:spPr>
          <a:xfrm>
            <a:off x="832104" y="2286000"/>
            <a:ext cx="4572000" cy="3657600"/>
          </a:xfrm>
          <a:prstGeom prst="rect">
            <a:avLst/>
          </a:prstGeom>
          <a:solidFill>
            <a:srgbClr val="F8F7F5"/>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423160"/>
            <a:ext cx="4389120" cy="3383280"/>
          </a:xfrm>
          <a:prstGeom prst="rect">
            <a:avLst/>
          </a:prstGeom>
          <a:noFill/>
        </p:spPr>
        <p:txBody>
          <a:bodyPr wrap="square">
            <a:spAutoFit/>
          </a:bodyPr>
          <a:lstStyle/>
          <a:p>
            <a:pPr algn="ctr">
              <a:defRPr sz="1100" b="1" i="0">
                <a:solidFill>
                  <a:srgbClr val="FD8209"/>
                </a:solidFill>
                <a:latin typeface="Cairo"/>
              </a:defRPr>
            </a:pPr>
            <a:r>
              <a:t>[لقطة شاشة نشطة من الكود - Mockup Stage Screen]</a:t>
            </a:r>
          </a:p>
          <a:p/>
          <a:p>
            <a:pPr algn="r">
              <a:defRPr sz="1100" b="1" i="0">
                <a:solidFill>
                  <a:srgbClr val="0F172A"/>
                </a:solidFill>
                <a:latin typeface="Cairo"/>
              </a:defRPr>
            </a:pPr>
            <a:r>
              <a:t>مخطط التموضع والتوجيه البصري المقترح:</a:t>
            </a:r>
          </a:p>
          <a:p/>
          <a:p>
            <a:pPr algn="r">
              <a:defRPr sz="1000" b="0" i="1">
                <a:solidFill>
                  <a:srgbClr val="475569"/>
                </a:solidFill>
                <a:latin typeface="Cairo"/>
              </a:defRPr>
            </a:pPr>
            <a:r>
              <a:t>لوحة Thawani، صفحة نشر القائمة الإلكترونية، شاشة الربط، صفحة التسويات، وسجل المزامنة.</a:t>
            </a:r>
          </a:p>
          <a:p/>
          <a:p/>
          <a:p>
            <a:pPr algn="r">
              <a:defRPr sz="800" b="0" i="1">
                <a:solidFill>
                  <a:srgbClr val="0F172A"/>
                </a:solidFill>
                <a:latin typeface="Cairo"/>
              </a:defRPr>
            </a:pPr>
            <a:r>
              <a:t>ملف التحقق بالكود:</a:t>
            </a:r>
            <a:br/>
            <a:r>
              <a:t>`lib/features/thawani_integration/data/remote/thawani_api_service.dart`، `lib/features/thawani_integration/pages/`، `lib/core/constants/api_endpoints.dart`.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7F5"/>
        </a:solidFill>
        <a:effectLst/>
      </p:bgPr>
    </p:bg>
    <p:spTree>
      <p:nvGrpSpPr>
        <p:cNvPr id="1" name=""/>
        <p:cNvGrpSpPr/>
        <p:nvPr/>
      </p:nvGrpSpPr>
      <p:grpSpPr/>
      <p:sp>
        <p:nvSpPr>
          <p:cNvPr id="2" name="TextBox 1"/>
          <p:cNvSpPr txBox="1"/>
          <p:nvPr/>
        </p:nvSpPr>
        <p:spPr>
          <a:xfrm>
            <a:off x="603504" y="365760"/>
            <a:ext cx="10972800" cy="1097280"/>
          </a:xfrm>
          <a:prstGeom prst="rect">
            <a:avLst/>
          </a:prstGeom>
          <a:noFill/>
        </p:spPr>
        <p:txBody>
          <a:bodyPr wrap="square" lIns="0" rIns="0" tIns="0" bIns="0">
            <a:spAutoFit/>
          </a:bodyPr>
          <a:lstStyle/>
          <a:p>
            <a:pPr algn="r">
              <a:defRPr sz="1200" b="1">
                <a:solidFill>
                  <a:srgbClr val="FD8209"/>
                </a:solidFill>
                <a:latin typeface="Cairo"/>
              </a:defRPr>
            </a:pPr>
            <a:r>
              <a:t>06  |</a:t>
            </a:r>
          </a:p>
          <a:p>
            <a:pPr algn="r">
              <a:defRPr sz="2200" b="1">
                <a:solidFill>
                  <a:srgbClr val="0F172A"/>
                </a:solidFill>
                <a:latin typeface="Cairo"/>
              </a:defRPr>
            </a:pPr>
            <a:r>
              <a:t>الطلبات الإلكترونية وقنوات التوصيل والسجلات التشغيلية</a:t>
            </a:r>
          </a:p>
          <a:p>
            <a:pPr algn="r">
              <a:defRPr sz="1100">
                <a:solidFill>
                  <a:srgbClr val="475569"/>
                </a:solidFill>
                <a:latin typeface="Cairo"/>
              </a:defRPr>
            </a:pPr>
            <a:r>
              <a:t>يعمل Thawani Connected Commerce مع تكاملات التوصيل لدى المزوّد لإدارة الطلبات النشطة، القوائم، تغييرات الحالة، سجلات المزامنة، webhooks، ومواءمة المخزون.</a:t>
            </a:r>
          </a:p>
        </p:txBody>
      </p:sp>
      <p:sp>
        <p:nvSpPr>
          <p:cNvPr id="3" name="TextBox 2"/>
          <p:cNvSpPr txBox="1"/>
          <p:nvPr/>
        </p:nvSpPr>
        <p:spPr>
          <a:xfrm>
            <a:off x="5943600" y="1645920"/>
            <a:ext cx="5632704" cy="4572000"/>
          </a:xfrm>
          <a:prstGeom prst="rect">
            <a:avLst/>
          </a:prstGeom>
          <a:noFill/>
        </p:spPr>
        <p:txBody>
          <a:bodyPr wrap="square">
            <a:spAutoFit/>
          </a:bodyPr>
          <a:lstStyle/>
          <a:p>
            <a:pPr algn="r">
              <a:defRPr sz="1400" b="1" i="0">
                <a:solidFill>
                  <a:srgbClr val="FD8209"/>
                </a:solidFill>
                <a:latin typeface="Cairo"/>
              </a:defRPr>
            </a:pPr>
            <a:r>
              <a:t>الميزات والعمليات الرئيسية</a:t>
            </a:r>
          </a:p>
          <a:p/>
          <a:p>
            <a:pPr algn="r">
              <a:defRPr sz="1200" b="0" i="0">
                <a:solidFill>
                  <a:srgbClr val="0F172A"/>
                </a:solidFill>
                <a:latin typeface="Cairo"/>
              </a:defRPr>
            </a:pPr>
            <a:r>
              <a:t>• يدعم تكامل التوصيل اتصالات منصات قابلة للإعداد، عرض الطلبات النشطة، تفاصيل الطلب، تحديث الحالة، مزامنة القائمة، سجلات المزامنة، سجلات webhook، وسجلات دفع الحالة.</a:t>
            </a:r>
          </a:p>
          <a:p>
            <a:pPr>
              <a:defRPr sz="600"/>
            </a:pPr>
          </a:p>
          <a:p>
            <a:pPr algn="r">
              <a:defRPr sz="1200" b="0" i="0">
                <a:solidFill>
                  <a:srgbClr val="0F172A"/>
                </a:solidFill>
                <a:latin typeface="Cairo"/>
              </a:defRPr>
            </a:pPr>
            <a:r>
              <a:t>• تدعم APIs الطلبات القائمة والتفاصيل والإنشاء وتحديث الحالة والإلغاء، إضافة إلى قائمة وإنشاء وتفاصيل المرتجعات لتدفقات طلبات المزوّد.</a:t>
            </a:r>
          </a:p>
          <a:p>
            <a:pPr>
              <a:defRPr sz="600"/>
            </a:pPr>
          </a:p>
          <a:p>
            <a:pPr algn="r">
              <a:defRPr sz="1200" b="0" i="0">
                <a:solidFill>
                  <a:srgbClr val="0F172A"/>
                </a:solidFill>
                <a:latin typeface="Cairo"/>
              </a:defRPr>
            </a:pPr>
            <a:r>
              <a:t>• تدعم عمليات Thawani قبول الطلب، رفضه، تحديث حالته، معالجة قائمة الانتظار، مزامنة المخزون، ومراجعة التسويات.</a:t>
            </a:r>
          </a:p>
          <a:p>
            <a:pPr>
              <a:defRPr sz="600"/>
            </a:pPr>
          </a:p>
          <a:p>
            <a:pPr algn="r">
              <a:defRPr sz="1200" b="0" i="0">
                <a:solidFill>
                  <a:srgbClr val="0F172A"/>
                </a:solidFill>
                <a:latin typeface="Cairo"/>
              </a:defRPr>
            </a:pPr>
            <a:r>
              <a:t>• استخدم مصدر بيانات معتمداً لأي قائمة أسماء منصات توصيل. تطبيق Flutter يجلب المنصات المدعومة من خلال وحدة تكامل التوصيل.</a:t>
            </a:r>
          </a:p>
          <a:p>
            <a:pPr>
              <a:defRPr sz="600"/>
            </a:pPr>
          </a:p>
        </p:txBody>
      </p:sp>
      <p:sp>
        <p:nvSpPr>
          <p:cNvPr id="4" name="Rounded Rectangle 3"/>
          <p:cNvSpPr/>
          <p:nvPr/>
        </p:nvSpPr>
        <p:spPr>
          <a:xfrm>
            <a:off x="603504" y="1645920"/>
            <a:ext cx="5029200" cy="4572000"/>
          </a:xfrm>
          <a:prstGeom prst="roundRect">
            <a:avLst/>
          </a:prstGeom>
          <a:solidFill>
            <a:srgbClr val="FFFFFF"/>
          </a:solidFill>
          <a:ln w="12700">
            <a:solidFill>
              <a:srgbClr val="FD82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0664" y="1783080"/>
            <a:ext cx="4754880" cy="365760"/>
          </a:xfrm>
          <a:prstGeom prst="rect">
            <a:avLst/>
          </a:prstGeom>
          <a:solidFill>
            <a:srgbClr val="FD82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755648"/>
            <a:ext cx="4754880" cy="365760"/>
          </a:xfrm>
          <a:prstGeom prst="rect">
            <a:avLst/>
          </a:prstGeom>
          <a:noFill/>
        </p:spPr>
        <p:txBody>
          <a:bodyPr wrap="none">
            <a:spAutoFit/>
          </a:bodyPr>
          <a:lstStyle/>
          <a:p>
            <a:pPr algn="ctr">
              <a:defRPr sz="1000" b="1" i="0">
                <a:solidFill>
                  <a:srgbClr val="FFFFFF"/>
                </a:solidFill>
                <a:latin typeface="Cairo"/>
              </a:defRPr>
            </a:pPr>
            <a:r>
              <a:t>محاكاة واجهة التطبيق | App UI Mockup</a:t>
            </a:r>
          </a:p>
        </p:txBody>
      </p:sp>
      <p:sp>
        <p:nvSpPr>
          <p:cNvPr id="7" name="Rectangle 6"/>
          <p:cNvSpPr/>
          <p:nvPr/>
        </p:nvSpPr>
        <p:spPr>
          <a:xfrm>
            <a:off x="832104" y="2286000"/>
            <a:ext cx="4572000" cy="3657600"/>
          </a:xfrm>
          <a:prstGeom prst="rect">
            <a:avLst/>
          </a:prstGeom>
          <a:solidFill>
            <a:srgbClr val="F8F7F5"/>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423160"/>
            <a:ext cx="4389120" cy="3383280"/>
          </a:xfrm>
          <a:prstGeom prst="rect">
            <a:avLst/>
          </a:prstGeom>
          <a:noFill/>
        </p:spPr>
        <p:txBody>
          <a:bodyPr wrap="square">
            <a:spAutoFit/>
          </a:bodyPr>
          <a:lstStyle/>
          <a:p>
            <a:pPr algn="ctr">
              <a:defRPr sz="1100" b="1" i="0">
                <a:solidFill>
                  <a:srgbClr val="FD8209"/>
                </a:solidFill>
                <a:latin typeface="Cairo"/>
              </a:defRPr>
            </a:pPr>
            <a:r>
              <a:t>[لقطة شاشة نشطة من الكود - Mockup Stage Screen]</a:t>
            </a:r>
          </a:p>
          <a:p/>
          <a:p>
            <a:pPr algn="r">
              <a:defRPr sz="1100" b="1" i="0">
                <a:solidFill>
                  <a:srgbClr val="0F172A"/>
                </a:solidFill>
                <a:latin typeface="Cairo"/>
              </a:defRPr>
            </a:pPr>
            <a:r>
              <a:t>مخطط التموضع والتوجيه البصري المقترح:</a:t>
            </a:r>
          </a:p>
          <a:p/>
          <a:p>
            <a:pPr algn="r">
              <a:defRPr sz="1000" b="0" i="1">
                <a:solidFill>
                  <a:srgbClr val="475569"/>
                </a:solidFill>
                <a:latin typeface="Cairo"/>
              </a:defRPr>
            </a:pPr>
            <a:r>
              <a:t>لوحة التوصيل، قائمة الطلبات النشطة، تفاصيل الطلب، مزامنة القائمة، سجل webhook أو الحالة، وشاشة حالة طلب Thawani.</a:t>
            </a:r>
          </a:p>
          <a:p/>
          <a:p/>
          <a:p>
            <a:pPr algn="r">
              <a:defRPr sz="800" b="0" i="1">
                <a:solidFill>
                  <a:srgbClr val="0F172A"/>
                </a:solidFill>
                <a:latin typeface="Cairo"/>
              </a:defRPr>
            </a:pPr>
            <a:r>
              <a:t>ملف التحقق بالكود:</a:t>
            </a:r>
            <a:br/>
            <a:r>
              <a:t>`lib/features/delivery_integration/data/remote/delivery_api_service.dart`، `lib/features/orders/data/remote/order_api_service.dart`، `lib/features/thawani_integration/data/remote/thawani_api_service.dart`.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7F5"/>
        </a:solidFill>
        <a:effectLst/>
      </p:bgPr>
    </p:bg>
    <p:spTree>
      <p:nvGrpSpPr>
        <p:cNvPr id="1" name=""/>
        <p:cNvGrpSpPr/>
        <p:nvPr/>
      </p:nvGrpSpPr>
      <p:grpSpPr/>
      <p:sp>
        <p:nvSpPr>
          <p:cNvPr id="2" name="TextBox 1"/>
          <p:cNvSpPr txBox="1"/>
          <p:nvPr/>
        </p:nvSpPr>
        <p:spPr>
          <a:xfrm>
            <a:off x="603504" y="365760"/>
            <a:ext cx="10972800" cy="1097280"/>
          </a:xfrm>
          <a:prstGeom prst="rect">
            <a:avLst/>
          </a:prstGeom>
          <a:noFill/>
        </p:spPr>
        <p:txBody>
          <a:bodyPr wrap="square" lIns="0" rIns="0" tIns="0" bIns="0">
            <a:spAutoFit/>
          </a:bodyPr>
          <a:lstStyle/>
          <a:p>
            <a:pPr algn="r">
              <a:defRPr sz="1200" b="1">
                <a:solidFill>
                  <a:srgbClr val="FD8209"/>
                </a:solidFill>
                <a:latin typeface="Cairo"/>
              </a:defRPr>
            </a:pPr>
            <a:r>
              <a:t>07  |</a:t>
            </a:r>
          </a:p>
          <a:p>
            <a:pPr algn="r">
              <a:defRPr sz="2200" b="1">
                <a:solidFill>
                  <a:srgbClr val="0F172A"/>
                </a:solidFill>
                <a:latin typeface="Cairo"/>
              </a:defRPr>
            </a:pPr>
            <a:r>
              <a:t>أهدافنا في سوق التوصيل</a:t>
            </a:r>
          </a:p>
          <a:p>
            <a:pPr algn="r">
              <a:defRPr sz="1100">
                <a:solidFill>
                  <a:srgbClr val="475569"/>
                </a:solidFill>
                <a:latin typeface="Cairo"/>
              </a:defRPr>
            </a:pPr>
            <a:r>
              <a:t>تستهدف Thawani Connected Commerce حصة واضحة من سوق التوصيل والطلبات الإلكترونية في المملكة خلال نافذة زمنية محددة من عامين.</a:t>
            </a:r>
          </a:p>
        </p:txBody>
      </p:sp>
      <p:sp>
        <p:nvSpPr>
          <p:cNvPr id="3" name="Rounded Rectangle 2"/>
          <p:cNvSpPr/>
          <p:nvPr/>
        </p:nvSpPr>
        <p:spPr>
          <a:xfrm>
            <a:off x="8101583" y="1737360"/>
            <a:ext cx="3383280" cy="438912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38743" y="1874520"/>
            <a:ext cx="3108960" cy="1371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38743" y="2103120"/>
            <a:ext cx="3108960" cy="3886200"/>
          </a:xfrm>
          <a:prstGeom prst="rect">
            <a:avLst/>
          </a:prstGeom>
          <a:noFill/>
        </p:spPr>
        <p:txBody>
          <a:bodyPr wrap="square">
            <a:spAutoFit/>
          </a:bodyPr>
          <a:lstStyle/>
          <a:p>
            <a:pPr algn="ctr">
              <a:defRPr sz="1800" b="1" i="0">
                <a:solidFill>
                  <a:srgbClr val="0F172A"/>
                </a:solidFill>
                <a:latin typeface="Cairo"/>
              </a:defRPr>
            </a:pPr>
            <a:r>
              <a:t>اطلاق سريع</a:t>
            </a:r>
          </a:p>
          <a:p/>
          <a:p>
            <a:pPr algn="r">
              <a:defRPr sz="1300" b="1" i="0">
                <a:solidFill>
                  <a:srgbClr val="0F172A"/>
                </a:solidFill>
                <a:latin typeface="Cairo"/>
              </a:defRPr>
            </a:pPr>
            <a:r>
              <a:t>الفرصة وسرعة الدخول</a:t>
            </a:r>
          </a:p>
          <a:p/>
          <a:p>
            <a:pPr algn="r">
              <a:defRPr sz="1100" b="0" i="0">
                <a:solidFill>
                  <a:srgbClr val="475569"/>
                </a:solidFill>
                <a:latin typeface="Cairo"/>
              </a:defRPr>
            </a:pPr>
            <a:r>
              <a:t>تأسيس القنوات الإلكترونية وربط التطبيقات ومنصات التوصيل بالمتجر بشكل لحظي وفوري لمعالجة طلبات المزوّدين.</a:t>
            </a:r>
          </a:p>
        </p:txBody>
      </p:sp>
      <p:sp>
        <p:nvSpPr>
          <p:cNvPr id="6" name="Rounded Rectangle 5"/>
          <p:cNvSpPr/>
          <p:nvPr/>
        </p:nvSpPr>
        <p:spPr>
          <a:xfrm>
            <a:off x="4352544" y="1737360"/>
            <a:ext cx="3383280" cy="4389120"/>
          </a:xfrm>
          <a:prstGeom prst="roundRect">
            <a:avLst/>
          </a:prstGeom>
          <a:solidFill>
            <a:srgbClr val="FFFFFF"/>
          </a:solidFill>
          <a:ln w="12700">
            <a:solidFill>
              <a:srgbClr val="FD82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489704" y="1874520"/>
            <a:ext cx="3108960" cy="137160"/>
          </a:xfrm>
          <a:prstGeom prst="rect">
            <a:avLst/>
          </a:prstGeom>
          <a:solidFill>
            <a:srgbClr val="FD82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9704" y="2103120"/>
            <a:ext cx="3108960" cy="3886200"/>
          </a:xfrm>
          <a:prstGeom prst="rect">
            <a:avLst/>
          </a:prstGeom>
          <a:noFill/>
        </p:spPr>
        <p:txBody>
          <a:bodyPr wrap="square">
            <a:spAutoFit/>
          </a:bodyPr>
          <a:lstStyle/>
          <a:p>
            <a:pPr algn="ctr">
              <a:defRPr sz="1800" b="1" i="0">
                <a:solidFill>
                  <a:srgbClr val="FD8209"/>
                </a:solidFill>
                <a:latin typeface="Cairo"/>
              </a:defRPr>
            </a:pPr>
            <a:r>
              <a:t>السنة الثانية ~5%</a:t>
            </a:r>
          </a:p>
          <a:p/>
          <a:p>
            <a:pPr algn="r">
              <a:defRPr sz="1300" b="1" i="0">
                <a:solidFill>
                  <a:srgbClr val="0F172A"/>
                </a:solidFill>
                <a:latin typeface="Cairo"/>
              </a:defRPr>
            </a:pPr>
            <a:r>
              <a:t>الحصة المستهدفة من التوصيل</a:t>
            </a:r>
          </a:p>
          <a:p/>
          <a:p>
            <a:pPr algn="r">
              <a:defRPr sz="1100" b="0" i="0">
                <a:solidFill>
                  <a:srgbClr val="475569"/>
                </a:solidFill>
                <a:latin typeface="Cairo"/>
              </a:defRPr>
            </a:pPr>
            <a:r>
              <a:t>مستهدفة من حجم سوق التوصيل والطلبات في المملكة، مدعومة بنشر القائمة الإلكترونية ومزامنة المخزون وتكامل القنوات.</a:t>
            </a:r>
          </a:p>
          <a:p/>
          <a:p>
            <a:pPr algn="r">
              <a:defRPr sz="1000" b="0" i="1">
                <a:solidFill>
                  <a:srgbClr val="FD8209"/>
                </a:solidFill>
                <a:latin typeface="Cairo"/>
              </a:defRPr>
            </a:pPr>
            <a:r>
              <a:t>ميزة مسبقة: هدف السنة الثانية: تحقيق حصة تبلغ حوالي 5% من حجم سوق التوصيل بالطلبات، مدفوعةً ...</a:t>
            </a:r>
          </a:p>
        </p:txBody>
      </p:sp>
      <p:sp>
        <p:nvSpPr>
          <p:cNvPr id="9" name="Rounded Rectangle 8"/>
          <p:cNvSpPr/>
          <p:nvPr/>
        </p:nvSpPr>
        <p:spPr>
          <a:xfrm>
            <a:off x="603504" y="1737360"/>
            <a:ext cx="3383280" cy="4389120"/>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 y="1874520"/>
            <a:ext cx="3108960" cy="1371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 y="2103120"/>
            <a:ext cx="3108960" cy="3886200"/>
          </a:xfrm>
          <a:prstGeom prst="rect">
            <a:avLst/>
          </a:prstGeom>
          <a:noFill/>
        </p:spPr>
        <p:txBody>
          <a:bodyPr wrap="square">
            <a:spAutoFit/>
          </a:bodyPr>
          <a:lstStyle/>
          <a:p>
            <a:pPr algn="ctr">
              <a:defRPr sz="1800" b="1" i="0">
                <a:solidFill>
                  <a:srgbClr val="3B82F6"/>
                </a:solidFill>
                <a:latin typeface="Cairo"/>
              </a:defRPr>
            </a:pPr>
            <a:r>
              <a:t>المدى المتوسط 5-8%</a:t>
            </a:r>
          </a:p>
          <a:p/>
          <a:p>
            <a:pPr algn="r">
              <a:defRPr sz="1300" b="1" i="0">
                <a:solidFill>
                  <a:srgbClr val="0F172A"/>
                </a:solidFill>
                <a:latin typeface="Cairo"/>
              </a:defRPr>
            </a:pPr>
            <a:r>
              <a:t>الأفق والنمو التشغيلي</a:t>
            </a:r>
          </a:p>
          <a:p/>
          <a:p>
            <a:pPr algn="r">
              <a:defRPr sz="1100" b="0" i="0">
                <a:solidFill>
                  <a:srgbClr val="475569"/>
                </a:solidFill>
                <a:latin typeface="Cairo"/>
              </a:defRPr>
            </a:pPr>
            <a:r>
              <a:t>التوسع بامتلاك حصص أوسع في قنوات الطلبات الإلكترونية مع زيادة عدد المزوّدين النشطين على منصة Thawani.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7F5"/>
        </a:solidFill>
        <a:effectLst/>
      </p:bgPr>
    </p:bg>
    <p:spTree>
      <p:nvGrpSpPr>
        <p:cNvPr id="1" name=""/>
        <p:cNvGrpSpPr/>
        <p:nvPr/>
      </p:nvGrpSpPr>
      <p:grpSpPr/>
      <p:sp>
        <p:nvSpPr>
          <p:cNvPr id="2" name="TextBox 1"/>
          <p:cNvSpPr txBox="1"/>
          <p:nvPr/>
        </p:nvSpPr>
        <p:spPr>
          <a:xfrm>
            <a:off x="603504" y="365760"/>
            <a:ext cx="10972800" cy="1097280"/>
          </a:xfrm>
          <a:prstGeom prst="rect">
            <a:avLst/>
          </a:prstGeom>
          <a:noFill/>
        </p:spPr>
        <p:txBody>
          <a:bodyPr wrap="square" lIns="0" rIns="0" tIns="0" bIns="0">
            <a:spAutoFit/>
          </a:bodyPr>
          <a:lstStyle/>
          <a:p>
            <a:pPr algn="r">
              <a:defRPr sz="1200" b="1">
                <a:solidFill>
                  <a:srgbClr val="FD8209"/>
                </a:solidFill>
                <a:latin typeface="Cairo"/>
              </a:defRPr>
            </a:pPr>
            <a:r>
              <a:t>08  |</a:t>
            </a:r>
          </a:p>
          <a:p>
            <a:pPr algn="r">
              <a:defRPr sz="2200" b="1">
                <a:solidFill>
                  <a:srgbClr val="0F172A"/>
                </a:solidFill>
                <a:latin typeface="Cairo"/>
              </a:defRPr>
            </a:pPr>
            <a:r>
              <a:t>المنتج الثاني - Wameed POS</a:t>
            </a:r>
          </a:p>
          <a:p>
            <a:pPr algn="r">
              <a:defRPr sz="1100">
                <a:solidFill>
                  <a:srgbClr val="475569"/>
                </a:solidFill>
                <a:latin typeface="Cairo"/>
              </a:defRPr>
            </a:pPr>
            <a:r>
              <a:t>تطبيق POS شامل للمزوّد لإدارة البيع، تشغيل المتجر، المكتب الخلفي، الامتثال، والإدارة اليومية.</a:t>
            </a:r>
          </a:p>
        </p:txBody>
      </p:sp>
      <p:sp>
        <p:nvSpPr>
          <p:cNvPr id="3" name="TextBox 2"/>
          <p:cNvSpPr txBox="1"/>
          <p:nvPr/>
        </p:nvSpPr>
        <p:spPr>
          <a:xfrm>
            <a:off x="5943600" y="1645920"/>
            <a:ext cx="5632704" cy="4572000"/>
          </a:xfrm>
          <a:prstGeom prst="rect">
            <a:avLst/>
          </a:prstGeom>
          <a:noFill/>
        </p:spPr>
        <p:txBody>
          <a:bodyPr wrap="square">
            <a:spAutoFit/>
          </a:bodyPr>
          <a:lstStyle/>
          <a:p>
            <a:pPr algn="r">
              <a:defRPr sz="1400" b="1" i="0">
                <a:solidFill>
                  <a:srgbClr val="FD8209"/>
                </a:solidFill>
                <a:latin typeface="Cairo"/>
              </a:defRPr>
            </a:pPr>
            <a:r>
              <a:t>الميزات والعمليات الرئيسية</a:t>
            </a:r>
          </a:p>
          <a:p/>
          <a:p>
            <a:pPr algn="r">
              <a:defRPr sz="1200" b="0" i="0">
                <a:solidFill>
                  <a:srgbClr val="0F172A"/>
                </a:solidFill>
                <a:latin typeface="Cairo"/>
              </a:defRPr>
            </a:pPr>
            <a:r>
              <a:t>• مبني حول محطة الكاشير، مع البحث عن المنتجات، قراءة الباركود، إجراءات السلة، المدفوعات، المرتجعات، الإيصالات، ودعم شاشة العميل.</a:t>
            </a:r>
          </a:p>
          <a:p>
            <a:pPr>
              <a:defRPr sz="600"/>
            </a:pPr>
          </a:p>
          <a:p>
            <a:pPr algn="r">
              <a:defRPr sz="1200" b="0" i="0">
                <a:solidFill>
                  <a:srgbClr val="0F172A"/>
                </a:solidFill>
                <a:latin typeface="Cairo"/>
              </a:defRPr>
            </a:pPr>
            <a:r>
              <a:t>• يمتد إلى تدفقات المكتب الخلفي: الكتالوج، المخزون، العملاء، الموظفون، الأدوار، التقارير، المحاسبة، الفروع، الإعدادات، الأجهزة، الملصقات، الإشعارات، الدعم، والاشتراكات.</a:t>
            </a:r>
          </a:p>
          <a:p>
            <a:pPr>
              <a:defRPr sz="600"/>
            </a:pPr>
          </a:p>
          <a:p>
            <a:pPr algn="r">
              <a:defRPr sz="1200" b="0" i="0">
                <a:solidFill>
                  <a:srgbClr val="0F172A"/>
                </a:solidFill>
                <a:latin typeface="Cairo"/>
              </a:defRPr>
            </a:pPr>
            <a:r>
              <a:t>• يدعم بيانات POS بأسلوب offline-first باستخدام Drift/SQLite وAPIs مزامنة للمعاملات، المنتجات، العملاء، العروض، المخزون، والتغييرات التشغيلية.</a:t>
            </a:r>
          </a:p>
          <a:p>
            <a:pPr>
              <a:defRPr sz="600"/>
            </a:pPr>
          </a:p>
          <a:p>
            <a:pPr algn="r">
              <a:defRPr sz="1200" b="0" i="0">
                <a:solidFill>
                  <a:srgbClr val="0F172A"/>
                </a:solidFill>
                <a:latin typeface="Cairo"/>
              </a:defRPr>
            </a:pPr>
            <a:r>
              <a:t>• يستخدم صلاحيات المزوّد، سياق الفرع، وبوابات الميزات حتى يرى كل مستخدم الأدوات المناسبة لدوره وباقته.</a:t>
            </a:r>
          </a:p>
          <a:p>
            <a:pPr>
              <a:defRPr sz="600"/>
            </a:pPr>
          </a:p>
        </p:txBody>
      </p:sp>
      <p:sp>
        <p:nvSpPr>
          <p:cNvPr id="4" name="Rounded Rectangle 3"/>
          <p:cNvSpPr/>
          <p:nvPr/>
        </p:nvSpPr>
        <p:spPr>
          <a:xfrm>
            <a:off x="603504" y="1645920"/>
            <a:ext cx="5029200" cy="457200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0664" y="1783080"/>
            <a:ext cx="4754880"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755648"/>
            <a:ext cx="4754880" cy="365760"/>
          </a:xfrm>
          <a:prstGeom prst="rect">
            <a:avLst/>
          </a:prstGeom>
          <a:noFill/>
        </p:spPr>
        <p:txBody>
          <a:bodyPr wrap="none">
            <a:spAutoFit/>
          </a:bodyPr>
          <a:lstStyle/>
          <a:p>
            <a:pPr algn="ctr">
              <a:defRPr sz="1000" b="1" i="0">
                <a:solidFill>
                  <a:srgbClr val="FFFFFF"/>
                </a:solidFill>
                <a:latin typeface="Cairo"/>
              </a:defRPr>
            </a:pPr>
            <a:r>
              <a:t>محاكاة واجهة التطبيق | App UI Mockup</a:t>
            </a:r>
          </a:p>
        </p:txBody>
      </p:sp>
      <p:sp>
        <p:nvSpPr>
          <p:cNvPr id="7" name="Rectangle 6"/>
          <p:cNvSpPr/>
          <p:nvPr/>
        </p:nvSpPr>
        <p:spPr>
          <a:xfrm>
            <a:off x="832104" y="2286000"/>
            <a:ext cx="4572000" cy="3657600"/>
          </a:xfrm>
          <a:prstGeom prst="rect">
            <a:avLst/>
          </a:prstGeom>
          <a:solidFill>
            <a:srgbClr val="F8F7F5"/>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423160"/>
            <a:ext cx="4389120" cy="3383280"/>
          </a:xfrm>
          <a:prstGeom prst="rect">
            <a:avLst/>
          </a:prstGeom>
          <a:noFill/>
        </p:spPr>
        <p:txBody>
          <a:bodyPr wrap="square">
            <a:spAutoFit/>
          </a:bodyPr>
          <a:lstStyle/>
          <a:p>
            <a:pPr algn="ctr">
              <a:defRPr sz="1100" b="1" i="0">
                <a:solidFill>
                  <a:srgbClr val="0F172A"/>
                </a:solidFill>
                <a:latin typeface="Cairo"/>
              </a:defRPr>
            </a:pPr>
            <a:r>
              <a:t>[لقطة شاشة نشطة من الكود - Mockup Stage Screen]</a:t>
            </a:r>
          </a:p>
          <a:p/>
          <a:p>
            <a:pPr algn="r">
              <a:defRPr sz="1100" b="1" i="0">
                <a:solidFill>
                  <a:srgbClr val="0F172A"/>
                </a:solidFill>
                <a:latin typeface="Cairo"/>
              </a:defRPr>
            </a:pPr>
            <a:r>
              <a:t>مخطط التموضع والتوجيه البصري المقترح:</a:t>
            </a:r>
          </a:p>
          <a:p/>
          <a:p>
            <a:pPr algn="r">
              <a:defRPr sz="1000" b="0" i="1">
                <a:solidFill>
                  <a:srgbClr val="475569"/>
                </a:solidFill>
                <a:latin typeface="Cairo"/>
              </a:defRPr>
            </a:pPr>
            <a:r>
              <a:t>لوحة Wameed POS أو شاشة الكاشير مع شريط وحدات أسفلها.</a:t>
            </a:r>
          </a:p>
          <a:p/>
          <a:p/>
          <a:p>
            <a:pPr algn="r">
              <a:defRPr sz="800" b="0" i="1">
                <a:solidFill>
                  <a:srgbClr val="0F172A"/>
                </a:solidFill>
                <a:latin typeface="Cairo"/>
              </a:defRPr>
            </a:pPr>
            <a:r>
              <a:t>ملف التحقق بالكود:</a:t>
            </a:r>
            <a:br/>
            <a:r>
              <a:t>`lib/features/pos_terminal/pages/pos_cashier_page.dart`، `lib/features/pos_terminal/data/local/pos_offline_database.dart`، `lib/core/widgets/pos_sidebar.dart`، `lib/core/router/route_permissions.dart`.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7F5"/>
        </a:solidFill>
        <a:effectLst/>
      </p:bgPr>
    </p:bg>
    <p:spTree>
      <p:nvGrpSpPr>
        <p:cNvPr id="1" name=""/>
        <p:cNvGrpSpPr/>
        <p:nvPr/>
      </p:nvGrpSpPr>
      <p:grpSpPr/>
      <p:sp>
        <p:nvSpPr>
          <p:cNvPr id="2" name="TextBox 1"/>
          <p:cNvSpPr txBox="1"/>
          <p:nvPr/>
        </p:nvSpPr>
        <p:spPr>
          <a:xfrm>
            <a:off x="603504" y="365760"/>
            <a:ext cx="10972800" cy="1097280"/>
          </a:xfrm>
          <a:prstGeom prst="rect">
            <a:avLst/>
          </a:prstGeom>
          <a:noFill/>
        </p:spPr>
        <p:txBody>
          <a:bodyPr wrap="square" lIns="0" rIns="0" tIns="0" bIns="0">
            <a:spAutoFit/>
          </a:bodyPr>
          <a:lstStyle/>
          <a:p>
            <a:pPr algn="r">
              <a:defRPr sz="1200" b="1">
                <a:solidFill>
                  <a:srgbClr val="FD8209"/>
                </a:solidFill>
                <a:latin typeface="Cairo"/>
              </a:defRPr>
            </a:pPr>
            <a:r>
              <a:t>09  |</a:t>
            </a:r>
          </a:p>
          <a:p>
            <a:pPr algn="r">
              <a:defRPr sz="2200" b="1">
                <a:solidFill>
                  <a:srgbClr val="0F172A"/>
                </a:solidFill>
                <a:latin typeface="Cairo"/>
              </a:defRPr>
            </a:pPr>
            <a:r>
              <a:t>أهدافنا في سوقي التجزئة والضيافة</a:t>
            </a:r>
          </a:p>
          <a:p>
            <a:pPr algn="r">
              <a:defRPr sz="1100">
                <a:solidFill>
                  <a:srgbClr val="475569"/>
                </a:solidFill>
                <a:latin typeface="Cairo"/>
              </a:defRPr>
            </a:pPr>
            <a:r>
              <a:t>يستهدف Wameed POS موقعاً ريادياً في سوق نقاط بيع التجزئة والسوبرماركت والمطاعم خلال السنتين القادمتين.</a:t>
            </a:r>
          </a:p>
        </p:txBody>
      </p:sp>
      <p:sp>
        <p:nvSpPr>
          <p:cNvPr id="3" name="TextBox 2"/>
          <p:cNvSpPr txBox="1"/>
          <p:nvPr/>
        </p:nvSpPr>
        <p:spPr>
          <a:xfrm>
            <a:off x="6035040" y="1645920"/>
            <a:ext cx="5577840" cy="4572000"/>
          </a:xfrm>
          <a:prstGeom prst="rect">
            <a:avLst/>
          </a:prstGeom>
          <a:noFill/>
        </p:spPr>
        <p:txBody>
          <a:bodyPr wrap="square">
            <a:spAutoFit/>
          </a:bodyPr>
          <a:lstStyle/>
          <a:p>
            <a:pPr algn="r">
              <a:defRPr sz="1400" b="1" i="0">
                <a:solidFill>
                  <a:srgbClr val="FD8209"/>
                </a:solidFill>
                <a:latin typeface="Cairo"/>
              </a:defRPr>
            </a:pPr>
            <a:r>
              <a:t>أهداف التوسع والمستهدوف التشغيلي</a:t>
            </a:r>
          </a:p>
          <a:p/>
          <a:p>
            <a:pPr algn="r">
              <a:defRPr sz="1200" b="0" i="0">
                <a:solidFill>
                  <a:srgbClr val="0F172A"/>
                </a:solidFill>
                <a:latin typeface="Cairo"/>
              </a:defRPr>
            </a:pPr>
            <a:r>
              <a:t>• سوق التجزئة والسوبرماركت: استهداف 40–45% من السوق الممكن خلال عامين، مدفوعاً بانتشار Wameed POS على مستوى المتجر والفروع مع دعم الكتالوج، المخزون، المدفوعات، الموظفين، التقارير، ZATCA، والأجهزة.</a:t>
            </a:r>
          </a:p>
          <a:p>
            <a:pPr>
              <a:defRPr sz="600"/>
            </a:pPr>
          </a:p>
          <a:p>
            <a:pPr algn="r">
              <a:defRPr sz="1200" b="0" i="0">
                <a:solidFill>
                  <a:srgbClr val="0F172A"/>
                </a:solidFill>
                <a:latin typeface="Cairo"/>
              </a:defRPr>
            </a:pPr>
            <a:r>
              <a:t>• سوق المطاعم: استهداف حوالي 10% من سوق نقاط بيع المطاعم، مدعوماً بإدارة الطاولات، تذاكر المطبخ، الحجوزات، الحسابات المفتوحة، وتدفقات المطعم الخاصة بالقطاع.</a:t>
            </a:r>
          </a:p>
          <a:p>
            <a:pPr>
              <a:defRPr sz="600"/>
            </a:pPr>
          </a:p>
          <a:p>
            <a:pPr algn="r">
              <a:defRPr sz="1200" b="0" i="0">
                <a:solidFill>
                  <a:srgbClr val="0F172A"/>
                </a:solidFill>
                <a:latin typeface="Cairo"/>
              </a:defRPr>
            </a:pPr>
            <a:r>
              <a:t>• التوسع في القطاعات المتخصصة: وحدات المخبزة، الصيدلية، المجوهرات، الإلكترونيات، والزهور تمتد حضور Wameed POS إلى ما بعد التجزئة الأساسي.</a:t>
            </a:r>
          </a:p>
          <a:p>
            <a:pPr>
              <a:defRPr sz="600"/>
            </a:pPr>
          </a:p>
          <a:p>
            <a:pPr algn="r">
              <a:defRPr sz="1200" b="0" i="0">
                <a:solidFill>
                  <a:srgbClr val="0F172A"/>
                </a:solidFill>
                <a:latin typeface="Cairo"/>
              </a:defRPr>
            </a:pPr>
            <a:r>
              <a:t>• روافع النمو: اعتمادية offline-first، التحكم متعدد الفروع، الوصول المبني على الدور، امتثال ZATCA، التدفقات الخاصة بالقطاعات، اقتراحات AI، وإضافات مرتبطة بالباقة.</a:t>
            </a:r>
          </a:p>
          <a:p>
            <a:pPr>
              <a:defRPr sz="600"/>
            </a:pPr>
          </a:p>
        </p:txBody>
      </p:sp>
      <p:sp>
        <p:nvSpPr>
          <p:cNvPr id="4" name="Rounded Rectangle 3"/>
          <p:cNvSpPr/>
          <p:nvPr/>
        </p:nvSpPr>
        <p:spPr>
          <a:xfrm>
            <a:off x="603504" y="1645920"/>
            <a:ext cx="5029200" cy="457200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1828800"/>
            <a:ext cx="4663440" cy="4206240"/>
          </a:xfrm>
          <a:prstGeom prst="rect">
            <a:avLst/>
          </a:prstGeom>
          <a:noFill/>
        </p:spPr>
        <p:txBody>
          <a:bodyPr wrap="square">
            <a:spAutoFit/>
          </a:bodyPr>
          <a:lstStyle/>
          <a:p>
            <a:pPr algn="ctr">
              <a:defRPr sz="1400" b="1" i="0">
                <a:solidFill>
                  <a:srgbClr val="0F172A"/>
                </a:solidFill>
                <a:latin typeface="Cairo"/>
              </a:defRPr>
            </a:pPr>
            <a:r>
              <a:t>النسب المئوية المستهدفة للحصة السوقية</a:t>
            </a:r>
          </a:p>
          <a:p/>
          <a:p>
            <a:pPr algn="r">
              <a:defRPr sz="1100" b="1" i="0">
                <a:solidFill>
                  <a:srgbClr val="FD8209"/>
                </a:solidFill>
                <a:latin typeface="Cairo"/>
              </a:defRPr>
            </a:pPr>
            <a:r>
              <a:t>قطاع التجزئة والسوبر ماركت (المستهدف: 40-45%)</a:t>
            </a:r>
          </a:p>
          <a:p/>
          <a:p/>
          <a:p/>
          <a:p>
            <a:pPr algn="r">
              <a:defRPr sz="1100" b="1" i="0">
                <a:solidFill>
                  <a:srgbClr val="0F172A"/>
                </a:solidFill>
                <a:latin typeface="Cairo"/>
              </a:defRPr>
            </a:pPr>
            <a:r>
              <a:t>قطاع الضيافة والمطاعم (المستهدف: ~10%)</a:t>
            </a:r>
          </a:p>
          <a:p/>
          <a:p/>
          <a:p/>
          <a:p>
            <a:pPr algn="r">
              <a:defRPr sz="1100" b="1" i="0">
                <a:solidFill>
                  <a:srgbClr val="475569"/>
                </a:solidFill>
                <a:latin typeface="Cairo"/>
              </a:defRPr>
            </a:pPr>
            <a:r>
              <a:t>القطاعات والصناعات المتخصصة الأخرى (دخول نشط)</a:t>
            </a:r>
          </a:p>
          <a:p/>
        </p:txBody>
      </p:sp>
      <p:sp>
        <p:nvSpPr>
          <p:cNvPr id="6" name="Rounded Rectangle 5"/>
          <p:cNvSpPr/>
          <p:nvPr/>
        </p:nvSpPr>
        <p:spPr>
          <a:xfrm>
            <a:off x="786384" y="2743200"/>
            <a:ext cx="4114800" cy="228600"/>
          </a:xfrm>
          <a:prstGeom prst="round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6384" y="2743200"/>
            <a:ext cx="1851660" cy="228600"/>
          </a:xfrm>
          <a:prstGeom prst="roundRect">
            <a:avLst/>
          </a:prstGeom>
          <a:solidFill>
            <a:srgbClr val="FD82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86384" y="4023360"/>
            <a:ext cx="4114800" cy="228600"/>
          </a:xfrm>
          <a:prstGeom prst="round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86384" y="4023360"/>
            <a:ext cx="493776" cy="228600"/>
          </a:xfrm>
          <a:prstGeom prst="roundRect">
            <a:avLst/>
          </a:prstGeom>
          <a:solidFill>
            <a:srgbClr val="FFB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86384" y="5303520"/>
            <a:ext cx="4114800" cy="228600"/>
          </a:xfrm>
          <a:prstGeom prst="round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86384" y="5303520"/>
            <a:ext cx="1028700" cy="22860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7F5"/>
        </a:solidFill>
        <a:effectLst/>
      </p:bgPr>
    </p:bg>
    <p:spTree>
      <p:nvGrpSpPr>
        <p:cNvPr id="1" name=""/>
        <p:cNvGrpSpPr/>
        <p:nvPr/>
      </p:nvGrpSpPr>
      <p:grpSpPr/>
      <p:sp>
        <p:nvSpPr>
          <p:cNvPr id="2" name="TextBox 1"/>
          <p:cNvSpPr txBox="1"/>
          <p:nvPr/>
        </p:nvSpPr>
        <p:spPr>
          <a:xfrm>
            <a:off x="603504" y="365760"/>
            <a:ext cx="10972800" cy="1097280"/>
          </a:xfrm>
          <a:prstGeom prst="rect">
            <a:avLst/>
          </a:prstGeom>
          <a:noFill/>
        </p:spPr>
        <p:txBody>
          <a:bodyPr wrap="square" lIns="0" rIns="0" tIns="0" bIns="0">
            <a:spAutoFit/>
          </a:bodyPr>
          <a:lstStyle/>
          <a:p>
            <a:pPr algn="r">
              <a:defRPr sz="1200" b="1">
                <a:solidFill>
                  <a:srgbClr val="FD8209"/>
                </a:solidFill>
                <a:latin typeface="Cairo"/>
              </a:defRPr>
            </a:pPr>
            <a:r>
              <a:t>10  |</a:t>
            </a:r>
          </a:p>
          <a:p>
            <a:pPr algn="r">
              <a:defRPr sz="2200" b="1">
                <a:solidFill>
                  <a:srgbClr val="0F172A"/>
                </a:solidFill>
                <a:latin typeface="Cairo"/>
              </a:defRPr>
            </a:pPr>
            <a:r>
              <a:t>بيع سريع للكاشير</a:t>
            </a:r>
          </a:p>
          <a:p>
            <a:pPr algn="r">
              <a:defRPr sz="1100">
                <a:solidFill>
                  <a:srgbClr val="475569"/>
                </a:solidFill>
                <a:latin typeface="Cairo"/>
              </a:defRPr>
            </a:pPr>
            <a:r>
              <a:t>البحث عن المنتجات، قراءة الباركود، إجراءات السلة، المدفوعات، المرتجعات، الإيصالات، ودعم الشاشة الثانوية كلها في قلب تجربة الكاشير.</a:t>
            </a:r>
          </a:p>
        </p:txBody>
      </p:sp>
      <p:sp>
        <p:nvSpPr>
          <p:cNvPr id="3" name="TextBox 2"/>
          <p:cNvSpPr txBox="1"/>
          <p:nvPr/>
        </p:nvSpPr>
        <p:spPr>
          <a:xfrm>
            <a:off x="5943600" y="1645920"/>
            <a:ext cx="5632704" cy="4572000"/>
          </a:xfrm>
          <a:prstGeom prst="rect">
            <a:avLst/>
          </a:prstGeom>
          <a:noFill/>
        </p:spPr>
        <p:txBody>
          <a:bodyPr wrap="square">
            <a:spAutoFit/>
          </a:bodyPr>
          <a:lstStyle/>
          <a:p>
            <a:pPr algn="r">
              <a:defRPr sz="1400" b="1" i="0">
                <a:solidFill>
                  <a:srgbClr val="FD8209"/>
                </a:solidFill>
                <a:latin typeface="Cairo"/>
              </a:defRPr>
            </a:pPr>
            <a:r>
              <a:t>الميزات والعمليات الرئيسية</a:t>
            </a:r>
          </a:p>
          <a:p/>
          <a:p>
            <a:pPr algn="r">
              <a:defRPr sz="1200" b="0" i="0">
                <a:solidFill>
                  <a:srgbClr val="0F172A"/>
                </a:solidFill>
                <a:latin typeface="Cairo"/>
              </a:defRPr>
            </a:pPr>
            <a:r>
              <a:t>• ابحث عن المنتجات أو امسح الباركود، ثم أضف الأصناف إلى سلة مباشرة.</a:t>
            </a:r>
          </a:p>
          <a:p>
            <a:pPr>
              <a:defRPr sz="600"/>
            </a:pPr>
          </a:p>
          <a:p>
            <a:pPr algn="r">
              <a:defRPr sz="1200" b="0" i="0">
                <a:solidFill>
                  <a:srgbClr val="0F172A"/>
                </a:solidFill>
                <a:latin typeface="Cairo"/>
              </a:defRPr>
            </a:pPr>
            <a:r>
              <a:t>• دعم تعليق السلة واسترجاعها، ربط العميل، المعدّلات، الملاحظات، التحقق من العمر، ومسار الإعفاء الضريبي.</a:t>
            </a:r>
          </a:p>
          <a:p>
            <a:pPr>
              <a:defRPr sz="600"/>
            </a:pPr>
          </a:p>
          <a:p>
            <a:pPr algn="r">
              <a:defRPr sz="1200" b="0" i="0">
                <a:solidFill>
                  <a:srgbClr val="0F172A"/>
                </a:solidFill>
                <a:latin typeface="Cairo"/>
              </a:defRPr>
            </a:pPr>
            <a:r>
              <a:t>• إكمال البيع عبر النقد، الدفع المقسّم، بطاقة الهدايا، رصيد المتجر، الكوبون، الأقساط، أو SoftPOS عند الإعداد.</a:t>
            </a:r>
          </a:p>
          <a:p>
            <a:pPr>
              <a:defRPr sz="600"/>
            </a:pPr>
          </a:p>
          <a:p>
            <a:pPr algn="r">
              <a:defRPr sz="1200" b="0" i="0">
                <a:solidFill>
                  <a:srgbClr val="0F172A"/>
                </a:solidFill>
                <a:latin typeface="Cairo"/>
              </a:defRPr>
            </a:pPr>
            <a:r>
              <a:t>• معالجة المرتجعات، الاستبدالات، الإلغاء، إعادة طباعة الإيصالات، حركات النقد، تقارير X، وتقارير Z.</a:t>
            </a:r>
          </a:p>
          <a:p>
            <a:pPr>
              <a:defRPr sz="600"/>
            </a:pPr>
          </a:p>
          <a:p>
            <a:pPr algn="r">
              <a:defRPr sz="1200" b="0" i="0">
                <a:solidFill>
                  <a:srgbClr val="0F172A"/>
                </a:solidFill>
                <a:latin typeface="Cairo"/>
              </a:defRPr>
            </a:pPr>
            <a:r>
              <a:t>• إرسال إجمالي السلة إلى شاشة العميل الثانوية عند توفر الجهاز المدعوم.</a:t>
            </a:r>
          </a:p>
          <a:p>
            <a:pPr>
              <a:defRPr sz="600"/>
            </a:pPr>
          </a:p>
        </p:txBody>
      </p:sp>
      <p:sp>
        <p:nvSpPr>
          <p:cNvPr id="4" name="Rounded Rectangle 3"/>
          <p:cNvSpPr/>
          <p:nvPr/>
        </p:nvSpPr>
        <p:spPr>
          <a:xfrm>
            <a:off x="603504" y="1645920"/>
            <a:ext cx="5029200" cy="457200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0664" y="1783080"/>
            <a:ext cx="4754880"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755648"/>
            <a:ext cx="4754880" cy="365760"/>
          </a:xfrm>
          <a:prstGeom prst="rect">
            <a:avLst/>
          </a:prstGeom>
          <a:noFill/>
        </p:spPr>
        <p:txBody>
          <a:bodyPr wrap="none">
            <a:spAutoFit/>
          </a:bodyPr>
          <a:lstStyle/>
          <a:p>
            <a:pPr algn="ctr">
              <a:defRPr sz="1000" b="1" i="0">
                <a:solidFill>
                  <a:srgbClr val="FFFFFF"/>
                </a:solidFill>
                <a:latin typeface="Cairo"/>
              </a:defRPr>
            </a:pPr>
            <a:r>
              <a:t>محاكاة واجهة التطبيق | App UI Mockup</a:t>
            </a:r>
          </a:p>
        </p:txBody>
      </p:sp>
      <p:sp>
        <p:nvSpPr>
          <p:cNvPr id="7" name="Rectangle 6"/>
          <p:cNvSpPr/>
          <p:nvPr/>
        </p:nvSpPr>
        <p:spPr>
          <a:xfrm>
            <a:off x="832104" y="2286000"/>
            <a:ext cx="4572000" cy="3657600"/>
          </a:xfrm>
          <a:prstGeom prst="rect">
            <a:avLst/>
          </a:prstGeom>
          <a:solidFill>
            <a:srgbClr val="F8F7F5"/>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423160"/>
            <a:ext cx="4389120" cy="3383280"/>
          </a:xfrm>
          <a:prstGeom prst="rect">
            <a:avLst/>
          </a:prstGeom>
          <a:noFill/>
        </p:spPr>
        <p:txBody>
          <a:bodyPr wrap="square">
            <a:spAutoFit/>
          </a:bodyPr>
          <a:lstStyle/>
          <a:p>
            <a:pPr algn="ctr">
              <a:defRPr sz="1100" b="1" i="0">
                <a:solidFill>
                  <a:srgbClr val="0F172A"/>
                </a:solidFill>
                <a:latin typeface="Cairo"/>
              </a:defRPr>
            </a:pPr>
            <a:r>
              <a:t>[لقطة شاشة نشطة من الكود - Mockup Stage Screen]</a:t>
            </a:r>
          </a:p>
          <a:p/>
          <a:p>
            <a:pPr algn="r">
              <a:defRPr sz="1100" b="1" i="0">
                <a:solidFill>
                  <a:srgbClr val="0F172A"/>
                </a:solidFill>
                <a:latin typeface="Cairo"/>
              </a:defRPr>
            </a:pPr>
            <a:r>
              <a:t>مخطط التموضع والتوجيه البصري المقترح:</a:t>
            </a:r>
          </a:p>
          <a:p/>
          <a:p>
            <a:pPr algn="r">
              <a:defRPr sz="1000" b="0" i="1">
                <a:solidFill>
                  <a:srgbClr val="475569"/>
                </a:solidFill>
                <a:latin typeface="Cairo"/>
              </a:defRPr>
            </a:pPr>
            <a:r>
              <a:t>استخدم شاشة `PosCashierPage` الفعلية مع قصاصات من السلة، منطقة المنتجات، ونافذة الدفع.</a:t>
            </a:r>
          </a:p>
          <a:p/>
          <a:p/>
          <a:p>
            <a:pPr algn="r">
              <a:defRPr sz="800" b="0" i="1">
                <a:solidFill>
                  <a:srgbClr val="0F172A"/>
                </a:solidFill>
                <a:latin typeface="Cairo"/>
              </a:defRPr>
            </a:pPr>
            <a:r>
              <a:t>ملف التحقق بالكود:</a:t>
            </a:r>
            <a:br/>
            <a:r>
              <a:t>`lib/features/pos_terminal/pages/pos_cashier_page.dart`، `lib/features/pos_terminal/pages/pos_payment_dialog.dart`، `lib/features/pos_terminal/pages/pos_return_dialog.dart`، `lib/features/customer_facing_display/pages/cfd_page.dart`، `lib/features/softpos/services/softpos_service.dart`.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7F5"/>
        </a:solidFill>
        <a:effectLst/>
      </p:bgPr>
    </p:bg>
    <p:spTree>
      <p:nvGrpSpPr>
        <p:cNvPr id="1" name=""/>
        <p:cNvGrpSpPr/>
        <p:nvPr/>
      </p:nvGrpSpPr>
      <p:grpSpPr/>
      <p:sp>
        <p:nvSpPr>
          <p:cNvPr id="2" name="TextBox 1"/>
          <p:cNvSpPr txBox="1"/>
          <p:nvPr/>
        </p:nvSpPr>
        <p:spPr>
          <a:xfrm>
            <a:off x="603504" y="365760"/>
            <a:ext cx="10972800" cy="1097280"/>
          </a:xfrm>
          <a:prstGeom prst="rect">
            <a:avLst/>
          </a:prstGeom>
          <a:noFill/>
        </p:spPr>
        <p:txBody>
          <a:bodyPr wrap="square" lIns="0" rIns="0" tIns="0" bIns="0">
            <a:spAutoFit/>
          </a:bodyPr>
          <a:lstStyle/>
          <a:p>
            <a:pPr algn="r">
              <a:defRPr sz="1200" b="1">
                <a:solidFill>
                  <a:srgbClr val="FD8209"/>
                </a:solidFill>
                <a:latin typeface="Cairo"/>
              </a:defRPr>
            </a:pPr>
            <a:r>
              <a:t>11  |</a:t>
            </a:r>
          </a:p>
          <a:p>
            <a:pPr algn="r">
              <a:defRPr sz="2200" b="1">
                <a:solidFill>
                  <a:srgbClr val="0F172A"/>
                </a:solidFill>
                <a:latin typeface="Cairo"/>
              </a:defRPr>
            </a:pPr>
            <a:r>
              <a:t>استمر في البيع حتى عند انقطاع الشبكة</a:t>
            </a:r>
          </a:p>
          <a:p>
            <a:pPr algn="r">
              <a:defRPr sz="1100">
                <a:solidFill>
                  <a:srgbClr val="475569"/>
                </a:solidFill>
                <a:latin typeface="Cairo"/>
              </a:defRPr>
            </a:pPr>
            <a:r>
              <a:t>تخزن قاعدة Drift المحلية بيانات POS الأساسية وتضع عمليات المزامنة في قائمة انتظار حتى يعود الاتصال.</a:t>
            </a:r>
          </a:p>
        </p:txBody>
      </p:sp>
      <p:sp>
        <p:nvSpPr>
          <p:cNvPr id="3" name="TextBox 2"/>
          <p:cNvSpPr txBox="1"/>
          <p:nvPr/>
        </p:nvSpPr>
        <p:spPr>
          <a:xfrm>
            <a:off x="5943600" y="1645920"/>
            <a:ext cx="5632704" cy="4572000"/>
          </a:xfrm>
          <a:prstGeom prst="rect">
            <a:avLst/>
          </a:prstGeom>
          <a:noFill/>
        </p:spPr>
        <p:txBody>
          <a:bodyPr wrap="square">
            <a:spAutoFit/>
          </a:bodyPr>
          <a:lstStyle/>
          <a:p>
            <a:pPr algn="r">
              <a:defRPr sz="1400" b="1" i="0">
                <a:solidFill>
                  <a:srgbClr val="FD8209"/>
                </a:solidFill>
                <a:latin typeface="Cairo"/>
              </a:defRPr>
            </a:pPr>
            <a:r>
              <a:t>الميزات والعمليات الرئيسية</a:t>
            </a:r>
          </a:p>
          <a:p/>
          <a:p>
            <a:pPr algn="r">
              <a:defRPr sz="1200" b="0" i="0">
                <a:solidFill>
                  <a:srgbClr val="0F172A"/>
                </a:solidFill>
                <a:latin typeface="Cairo"/>
              </a:defRPr>
            </a:pPr>
            <a:r>
              <a:t>• قاعدة البيانات المحلية تحفظ المنتجات، المخزون، الفئات، الموردين، المتغيرات، المعدّلات، العروض، الكوبونات، الملصقات، العملاء، السلال المعلقة، المعاملات، وسجل المزامنة.</a:t>
            </a:r>
          </a:p>
          <a:p>
            <a:pPr>
              <a:defRPr sz="600"/>
            </a:pPr>
          </a:p>
          <a:p>
            <a:pPr algn="r">
              <a:defRPr sz="1200" b="0" i="0">
                <a:solidFill>
                  <a:srgbClr val="0F172A"/>
                </a:solidFill>
                <a:latin typeface="Cairo"/>
              </a:defRPr>
            </a:pPr>
            <a:r>
              <a:t>• تستخدم المعاملات UUID من جهة العميل لتسهيل إعادة المحاولة ومنع التكرار في الخلفية.</a:t>
            </a:r>
          </a:p>
          <a:p>
            <a:pPr>
              <a:defRPr sz="600"/>
            </a:pPr>
          </a:p>
          <a:p>
            <a:pPr algn="r">
              <a:defRPr sz="1200" b="0" i="0">
                <a:solidFill>
                  <a:srgbClr val="0F172A"/>
                </a:solidFill>
                <a:latin typeface="Cairo"/>
              </a:defRPr>
            </a:pPr>
            <a:r>
              <a:t>• تدعم APIs المزامنة الدفع والسحب والمزامنة الكاملة وفحص الحالة والتعارضات والسجلات ونبض الاتصال.</a:t>
            </a:r>
          </a:p>
          <a:p>
            <a:pPr>
              <a:defRPr sz="600"/>
            </a:pPr>
          </a:p>
          <a:p>
            <a:pPr algn="r">
              <a:defRPr sz="1200" b="0" i="0">
                <a:solidFill>
                  <a:srgbClr val="0F172A"/>
                </a:solidFill>
                <a:latin typeface="Cairo"/>
              </a:defRPr>
            </a:pPr>
            <a:r>
              <a:t>• تغييرات المنتجات والعملاء والعروض والمخزون والمعاملات لها مسارات مزامنة أو delta sync مخصصة.</a:t>
            </a:r>
          </a:p>
          <a:p>
            <a:pPr>
              <a:defRPr sz="600"/>
            </a:pPr>
          </a:p>
        </p:txBody>
      </p:sp>
      <p:sp>
        <p:nvSpPr>
          <p:cNvPr id="4" name="Rounded Rectangle 3"/>
          <p:cNvSpPr/>
          <p:nvPr/>
        </p:nvSpPr>
        <p:spPr>
          <a:xfrm>
            <a:off x="603504" y="1645920"/>
            <a:ext cx="5029200" cy="457200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0664" y="1783080"/>
            <a:ext cx="4754880"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755648"/>
            <a:ext cx="4754880" cy="365760"/>
          </a:xfrm>
          <a:prstGeom prst="rect">
            <a:avLst/>
          </a:prstGeom>
          <a:noFill/>
        </p:spPr>
        <p:txBody>
          <a:bodyPr wrap="none">
            <a:spAutoFit/>
          </a:bodyPr>
          <a:lstStyle/>
          <a:p>
            <a:pPr algn="ctr">
              <a:defRPr sz="1000" b="1" i="0">
                <a:solidFill>
                  <a:srgbClr val="FFFFFF"/>
                </a:solidFill>
                <a:latin typeface="Cairo"/>
              </a:defRPr>
            </a:pPr>
            <a:r>
              <a:t>محاكاة واجهة التطبيق | App UI Mockup</a:t>
            </a:r>
          </a:p>
        </p:txBody>
      </p:sp>
      <p:sp>
        <p:nvSpPr>
          <p:cNvPr id="7" name="Rectangle 6"/>
          <p:cNvSpPr/>
          <p:nvPr/>
        </p:nvSpPr>
        <p:spPr>
          <a:xfrm>
            <a:off x="832104" y="2286000"/>
            <a:ext cx="4572000" cy="3657600"/>
          </a:xfrm>
          <a:prstGeom prst="rect">
            <a:avLst/>
          </a:prstGeom>
          <a:solidFill>
            <a:srgbClr val="F8F7F5"/>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423160"/>
            <a:ext cx="4389120" cy="3383280"/>
          </a:xfrm>
          <a:prstGeom prst="rect">
            <a:avLst/>
          </a:prstGeom>
          <a:noFill/>
        </p:spPr>
        <p:txBody>
          <a:bodyPr wrap="square">
            <a:spAutoFit/>
          </a:bodyPr>
          <a:lstStyle/>
          <a:p>
            <a:pPr algn="ctr">
              <a:defRPr sz="1100" b="1" i="0">
                <a:solidFill>
                  <a:srgbClr val="0F172A"/>
                </a:solidFill>
                <a:latin typeface="Cairo"/>
              </a:defRPr>
            </a:pPr>
            <a:r>
              <a:t>[لقطة شاشة نشطة من الكود - Mockup Stage Screen]</a:t>
            </a:r>
          </a:p>
          <a:p/>
          <a:p>
            <a:pPr algn="r">
              <a:defRPr sz="1100" b="1" i="0">
                <a:solidFill>
                  <a:srgbClr val="0F172A"/>
                </a:solidFill>
                <a:latin typeface="Cairo"/>
              </a:defRPr>
            </a:pPr>
            <a:r>
              <a:t>مخطط التموضع والتوجيه البصري المقترح:</a:t>
            </a:r>
          </a:p>
          <a:p/>
          <a:p>
            <a:pPr algn="r">
              <a:defRPr sz="1000" b="0" i="1">
                <a:solidFill>
                  <a:srgbClr val="475569"/>
                </a:solidFill>
                <a:latin typeface="Cairo"/>
              </a:defRPr>
            </a:pPr>
            <a:r>
              <a:t>مخطط يوضح قاعدة POS المحلية، قائمة انتظار المزامنة، API السحابي، والأجهزة الأخرى.</a:t>
            </a:r>
          </a:p>
          <a:p/>
          <a:p/>
          <a:p>
            <a:pPr algn="r">
              <a:defRPr sz="800" b="0" i="1">
                <a:solidFill>
                  <a:srgbClr val="0F172A"/>
                </a:solidFill>
                <a:latin typeface="Cairo"/>
              </a:defRPr>
            </a:pPr>
            <a:r>
              <a:t>ملف التحقق بالكود:</a:t>
            </a:r>
            <a:br/>
            <a:r>
              <a:t>`lib/features/pos_terminal/data/local/pos_offline_database.dart`، `lib/features/sync/data/remote/sync_api_service.dart`، `lib/features/pos_terminal/data/remote/pos_terminal_api_service.dart`.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7F5"/>
        </a:solidFill>
        <a:effectLst/>
      </p:bgPr>
    </p:bg>
    <p:spTree>
      <p:nvGrpSpPr>
        <p:cNvPr id="1" name=""/>
        <p:cNvGrpSpPr/>
        <p:nvPr/>
      </p:nvGrpSpPr>
      <p:grpSpPr/>
      <p:sp>
        <p:nvSpPr>
          <p:cNvPr id="2" name="TextBox 1"/>
          <p:cNvSpPr txBox="1"/>
          <p:nvPr/>
        </p:nvSpPr>
        <p:spPr>
          <a:xfrm>
            <a:off x="603504" y="365760"/>
            <a:ext cx="10972800" cy="1097280"/>
          </a:xfrm>
          <a:prstGeom prst="rect">
            <a:avLst/>
          </a:prstGeom>
          <a:noFill/>
        </p:spPr>
        <p:txBody>
          <a:bodyPr wrap="square" lIns="0" rIns="0" tIns="0" bIns="0">
            <a:spAutoFit/>
          </a:bodyPr>
          <a:lstStyle/>
          <a:p>
            <a:pPr algn="r">
              <a:defRPr sz="1200" b="1">
                <a:solidFill>
                  <a:srgbClr val="FD8209"/>
                </a:solidFill>
                <a:latin typeface="Cairo"/>
              </a:defRPr>
            </a:pPr>
            <a:r>
              <a:t>12  |</a:t>
            </a:r>
          </a:p>
          <a:p>
            <a:pPr algn="r">
              <a:defRPr sz="2200" b="1">
                <a:solidFill>
                  <a:srgbClr val="0F172A"/>
                </a:solidFill>
                <a:latin typeface="Cairo"/>
              </a:defRPr>
            </a:pPr>
            <a:r>
              <a:t>تحكم في الكتالوج من SKU إلى المعدّلات</a:t>
            </a:r>
          </a:p>
          <a:p>
            <a:pPr algn="r">
              <a:defRPr sz="1100">
                <a:solidFill>
                  <a:srgbClr val="475569"/>
                </a:solidFill>
                <a:latin typeface="Cairo"/>
              </a:defRPr>
            </a:pPr>
            <a:r>
              <a:t>يستطيع المزوّد إدارة المنتجات، الفئات، الموردين، المتغيرات، الباركود، الاستيراد الجماعي، المنتجات المركبة، القوالب الجاهزة، وتسعير المتاجر.</a:t>
            </a:r>
          </a:p>
        </p:txBody>
      </p:sp>
      <p:sp>
        <p:nvSpPr>
          <p:cNvPr id="3" name="TextBox 2"/>
          <p:cNvSpPr txBox="1"/>
          <p:nvPr/>
        </p:nvSpPr>
        <p:spPr>
          <a:xfrm>
            <a:off x="5943600" y="1645920"/>
            <a:ext cx="5632704" cy="4572000"/>
          </a:xfrm>
          <a:prstGeom prst="rect">
            <a:avLst/>
          </a:prstGeom>
          <a:noFill/>
        </p:spPr>
        <p:txBody>
          <a:bodyPr wrap="square">
            <a:spAutoFit/>
          </a:bodyPr>
          <a:lstStyle/>
          <a:p>
            <a:pPr algn="r">
              <a:defRPr sz="1400" b="1" i="0">
                <a:solidFill>
                  <a:srgbClr val="FD8209"/>
                </a:solidFill>
                <a:latin typeface="Cairo"/>
              </a:defRPr>
            </a:pPr>
            <a:r>
              <a:t>الميزات والعمليات الرئيسية</a:t>
            </a:r>
          </a:p>
          <a:p/>
          <a:p>
            <a:pPr algn="r">
              <a:defRPr sz="1200" b="0" i="0">
                <a:solidFill>
                  <a:srgbClr val="0F172A"/>
                </a:solidFill>
                <a:latin typeface="Cairo"/>
              </a:defRPr>
            </a:pPr>
            <a:r>
              <a:t>• نموذج المنتج يدعم أسماء وأوصافاً بالعربية والإنجليزية، SKU، الباركود، سعر البيع، سعر التكلفة، معدل الضريبة، الصور، حالة التفعيل، الوزن، وزن العبوة، المنتجات المركبة، قيود العمر، وفترات العروض.</a:t>
            </a:r>
          </a:p>
          <a:p>
            <a:pPr>
              <a:defRPr sz="600"/>
            </a:pPr>
          </a:p>
          <a:p>
            <a:pPr algn="r">
              <a:defRPr sz="1200" b="0" i="0">
                <a:solidFill>
                  <a:srgbClr val="0F172A"/>
                </a:solidFill>
                <a:latin typeface="Cairo"/>
              </a:defRPr>
            </a:pPr>
            <a:r>
              <a:t>• APIs الكتالوج تدعم CRUD للمنتجات، مزامنة الكتالوج الكاملة، تغييرات delta، توليد الباركود، النسخ، الإجراءات الجماعية، أسعار المتاجر، الموردين، المعدّلات، المتغيرات، الباركود، وتعريف المنتجات المركبة.</a:t>
            </a:r>
          </a:p>
          <a:p>
            <a:pPr>
              <a:defRPr sz="600"/>
            </a:pPr>
          </a:p>
          <a:p>
            <a:pPr algn="r">
              <a:defRPr sz="1200" b="0" i="0">
                <a:solidFill>
                  <a:srgbClr val="0F172A"/>
                </a:solidFill>
                <a:latin typeface="Cairo"/>
              </a:defRPr>
            </a:pPr>
            <a:r>
              <a:t>• صفحات المنتج تشمل قائمة المنتجات، نموذج المنتج، الاستيراد الجماعي، إعداد المنتجات المركبة، قائمة الفئات، وقائمة الموردين.</a:t>
            </a:r>
          </a:p>
          <a:p>
            <a:pPr>
              <a:defRPr sz="600"/>
            </a:pPr>
          </a:p>
          <a:p>
            <a:pPr algn="r">
              <a:defRPr sz="1200" b="0" i="0">
                <a:solidFill>
                  <a:srgbClr val="0F172A"/>
                </a:solidFill>
                <a:latin typeface="Cairo"/>
              </a:defRPr>
            </a:pPr>
            <a:r>
              <a:t>• تسمح شاشات الكتالوج الجاهز للمزوّد باستعراض ونسخ قوالب الفئات والمنتجات إلى كتالوج المتجر.</a:t>
            </a:r>
          </a:p>
          <a:p>
            <a:pPr>
              <a:defRPr sz="600"/>
            </a:pPr>
          </a:p>
        </p:txBody>
      </p:sp>
      <p:sp>
        <p:nvSpPr>
          <p:cNvPr id="4" name="Rounded Rectangle 3"/>
          <p:cNvSpPr/>
          <p:nvPr/>
        </p:nvSpPr>
        <p:spPr>
          <a:xfrm>
            <a:off x="603504" y="1645920"/>
            <a:ext cx="5029200" cy="457200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0664" y="1783080"/>
            <a:ext cx="4754880"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755648"/>
            <a:ext cx="4754880" cy="365760"/>
          </a:xfrm>
          <a:prstGeom prst="rect">
            <a:avLst/>
          </a:prstGeom>
          <a:noFill/>
        </p:spPr>
        <p:txBody>
          <a:bodyPr wrap="none">
            <a:spAutoFit/>
          </a:bodyPr>
          <a:lstStyle/>
          <a:p>
            <a:pPr algn="ctr">
              <a:defRPr sz="1000" b="1" i="0">
                <a:solidFill>
                  <a:srgbClr val="FFFFFF"/>
                </a:solidFill>
                <a:latin typeface="Cairo"/>
              </a:defRPr>
            </a:pPr>
            <a:r>
              <a:t>محاكاة واجهة التطبيق | App UI Mockup</a:t>
            </a:r>
          </a:p>
        </p:txBody>
      </p:sp>
      <p:sp>
        <p:nvSpPr>
          <p:cNvPr id="7" name="Rectangle 6"/>
          <p:cNvSpPr/>
          <p:nvPr/>
        </p:nvSpPr>
        <p:spPr>
          <a:xfrm>
            <a:off x="832104" y="2286000"/>
            <a:ext cx="4572000" cy="3657600"/>
          </a:xfrm>
          <a:prstGeom prst="rect">
            <a:avLst/>
          </a:prstGeom>
          <a:solidFill>
            <a:srgbClr val="F8F7F5"/>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423160"/>
            <a:ext cx="4389120" cy="3383280"/>
          </a:xfrm>
          <a:prstGeom prst="rect">
            <a:avLst/>
          </a:prstGeom>
          <a:noFill/>
        </p:spPr>
        <p:txBody>
          <a:bodyPr wrap="square">
            <a:spAutoFit/>
          </a:bodyPr>
          <a:lstStyle/>
          <a:p>
            <a:pPr algn="ctr">
              <a:defRPr sz="1100" b="1" i="0">
                <a:solidFill>
                  <a:srgbClr val="0F172A"/>
                </a:solidFill>
                <a:latin typeface="Cairo"/>
              </a:defRPr>
            </a:pPr>
            <a:r>
              <a:t>[لقطة شاشة نشطة من الكود - Mockup Stage Screen]</a:t>
            </a:r>
          </a:p>
          <a:p/>
          <a:p>
            <a:pPr algn="r">
              <a:defRPr sz="1100" b="1" i="0">
                <a:solidFill>
                  <a:srgbClr val="0F172A"/>
                </a:solidFill>
                <a:latin typeface="Cairo"/>
              </a:defRPr>
            </a:pPr>
            <a:r>
              <a:t>مخطط التموضع والتوجيه البصري المقترح:</a:t>
            </a:r>
          </a:p>
          <a:p/>
          <a:p>
            <a:pPr algn="r">
              <a:defRPr sz="1000" b="0" i="1">
                <a:solidFill>
                  <a:srgbClr val="475569"/>
                </a:solidFill>
                <a:latin typeface="Cairo"/>
              </a:defRPr>
            </a:pPr>
            <a:r>
              <a:t>قائمة المنتجات مع نموذج المنتج وتبويبات التسعير والباركود والمتغيرات والمعدّلات والموردين.</a:t>
            </a:r>
          </a:p>
          <a:p/>
          <a:p/>
          <a:p>
            <a:pPr algn="r">
              <a:defRPr sz="800" b="0" i="1">
                <a:solidFill>
                  <a:srgbClr val="0F172A"/>
                </a:solidFill>
                <a:latin typeface="Cairo"/>
              </a:defRPr>
            </a:pPr>
            <a:r>
              <a:t>ملف التحقق بالكود:</a:t>
            </a:r>
            <a:br/>
            <a:r>
              <a:t>`lib/features/catalog/models/product.dart`، `lib/features/catalog/data/remote/catalog_api_service.dart`، `lib/features/catalog/pages/product_form_page.dart`، `lib/features/predefined_catalog/data/remote/predefined_catalog_api_service.dart`.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7F5"/>
        </a:solidFill>
        <a:effectLst/>
      </p:bgPr>
    </p:bg>
    <p:spTree>
      <p:nvGrpSpPr>
        <p:cNvPr id="1" name=""/>
        <p:cNvGrpSpPr/>
        <p:nvPr/>
      </p:nvGrpSpPr>
      <p:grpSpPr/>
      <p:sp>
        <p:nvSpPr>
          <p:cNvPr id="2" name="TextBox 1"/>
          <p:cNvSpPr txBox="1"/>
          <p:nvPr/>
        </p:nvSpPr>
        <p:spPr>
          <a:xfrm>
            <a:off x="603504" y="365760"/>
            <a:ext cx="10972800" cy="1097280"/>
          </a:xfrm>
          <a:prstGeom prst="rect">
            <a:avLst/>
          </a:prstGeom>
          <a:noFill/>
        </p:spPr>
        <p:txBody>
          <a:bodyPr wrap="square" lIns="0" rIns="0" tIns="0" bIns="0">
            <a:spAutoFit/>
          </a:bodyPr>
          <a:lstStyle/>
          <a:p>
            <a:pPr algn="r">
              <a:defRPr sz="1200" b="1">
                <a:solidFill>
                  <a:srgbClr val="FD8209"/>
                </a:solidFill>
                <a:latin typeface="Cairo"/>
              </a:defRPr>
            </a:pPr>
            <a:r>
              <a:t>13  |</a:t>
            </a:r>
          </a:p>
          <a:p>
            <a:pPr algn="r">
              <a:defRPr sz="2200" b="1">
                <a:solidFill>
                  <a:srgbClr val="0F172A"/>
                </a:solidFill>
                <a:latin typeface="Cairo"/>
              </a:defRPr>
            </a:pPr>
            <a:r>
              <a:t>رؤية المخزون مع تدفقات تشغيلية</a:t>
            </a:r>
          </a:p>
          <a:p>
            <a:pPr algn="r">
              <a:defRPr sz="1100">
                <a:solidFill>
                  <a:srgbClr val="475569"/>
                </a:solidFill>
                <a:latin typeface="Cairo"/>
              </a:defRPr>
            </a:pPr>
            <a:r>
              <a:t>تغطي شاشات المخزون مستويات المخزون، سجل الحركة، الاستلام، التسويات، التحويلات، أوامر الشراء، الوصفات، المرتجعات للموردين، الجرد، الهدر، الصلاحية، وتنبيهات انخفاض المخزون.</a:t>
            </a:r>
          </a:p>
        </p:txBody>
      </p:sp>
      <p:sp>
        <p:nvSpPr>
          <p:cNvPr id="3" name="TextBox 2"/>
          <p:cNvSpPr txBox="1"/>
          <p:nvPr/>
        </p:nvSpPr>
        <p:spPr>
          <a:xfrm>
            <a:off x="5943600" y="1645920"/>
            <a:ext cx="5632704" cy="4572000"/>
          </a:xfrm>
          <a:prstGeom prst="rect">
            <a:avLst/>
          </a:prstGeom>
          <a:noFill/>
        </p:spPr>
        <p:txBody>
          <a:bodyPr wrap="square">
            <a:spAutoFit/>
          </a:bodyPr>
          <a:lstStyle/>
          <a:p>
            <a:pPr algn="r">
              <a:defRPr sz="1400" b="1" i="0">
                <a:solidFill>
                  <a:srgbClr val="FD8209"/>
                </a:solidFill>
                <a:latin typeface="Cairo"/>
              </a:defRPr>
            </a:pPr>
            <a:r>
              <a:t>الميزات والعمليات الرئيسية</a:t>
            </a:r>
          </a:p>
          <a:p/>
          <a:p>
            <a:pPr algn="r">
              <a:defRPr sz="1200" b="0" i="0">
                <a:solidFill>
                  <a:srgbClr val="0F172A"/>
                </a:solidFill>
                <a:latin typeface="Cairo"/>
              </a:defRPr>
            </a:pPr>
            <a:r>
              <a:t>• يمكن تصفية مستويات المخزون حسب المتجر، المنتج، حالة انخفاض المخزون، وكلمة البحث.</a:t>
            </a:r>
          </a:p>
          <a:p>
            <a:pPr>
              <a:defRPr sz="600"/>
            </a:pPr>
          </a:p>
          <a:p>
            <a:pPr algn="r">
              <a:defRPr sz="1200" b="0" i="0">
                <a:solidFill>
                  <a:srgbClr val="0F172A"/>
                </a:solidFill>
                <a:latin typeface="Cairo"/>
              </a:defRPr>
            </a:pPr>
            <a:r>
              <a:t>• تتم إدارة استلام البضائع، أوامر الشراء، تعديلات المخزون، تحويلات المخزون، مرتجعات الموردين، والجرد عبر صفحات وAPIs مخصصة.</a:t>
            </a:r>
          </a:p>
          <a:p>
            <a:pPr>
              <a:defRPr sz="600"/>
            </a:pPr>
          </a:p>
          <a:p>
            <a:pPr algn="r">
              <a:defRPr sz="1200" b="0" i="0">
                <a:solidFill>
                  <a:srgbClr val="0F172A"/>
                </a:solidFill>
                <a:latin typeface="Cairo"/>
              </a:defRPr>
            </a:pPr>
            <a:r>
              <a:t>• تساعد سجلات الهدر وتنبيهات انتهاء الصلاحية في التحكم التشغيلي لكل متجر.</a:t>
            </a:r>
          </a:p>
          <a:p>
            <a:pPr>
              <a:defRPr sz="600"/>
            </a:pPr>
          </a:p>
          <a:p>
            <a:pPr algn="r">
              <a:defRPr sz="1200" b="0" i="0">
                <a:solidFill>
                  <a:srgbClr val="0F172A"/>
                </a:solidFill>
                <a:latin typeface="Cairo"/>
              </a:defRPr>
            </a:pPr>
            <a:r>
              <a:t>• دعم الوصفات يربط المخزون بتدفقات المطاعم أو الإنتاج.</a:t>
            </a:r>
          </a:p>
          <a:p>
            <a:pPr>
              <a:defRPr sz="600"/>
            </a:pPr>
          </a:p>
          <a:p>
            <a:pPr algn="r">
              <a:defRPr sz="1200" b="0" i="0">
                <a:solidFill>
                  <a:srgbClr val="0F172A"/>
                </a:solidFill>
                <a:latin typeface="Cairo"/>
              </a:defRPr>
            </a:pPr>
            <a:r>
              <a:t>• تضيف APIs التقارير تقييم المخزون، الدوران، الفاقد، انخفاض المخزون، وتقارير الصلاحية.</a:t>
            </a:r>
          </a:p>
          <a:p>
            <a:pPr>
              <a:defRPr sz="600"/>
            </a:pPr>
          </a:p>
        </p:txBody>
      </p:sp>
      <p:sp>
        <p:nvSpPr>
          <p:cNvPr id="4" name="Rounded Rectangle 3"/>
          <p:cNvSpPr/>
          <p:nvPr/>
        </p:nvSpPr>
        <p:spPr>
          <a:xfrm>
            <a:off x="603504" y="1645920"/>
            <a:ext cx="5029200" cy="457200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0664" y="1783080"/>
            <a:ext cx="4754880"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755648"/>
            <a:ext cx="4754880" cy="365760"/>
          </a:xfrm>
          <a:prstGeom prst="rect">
            <a:avLst/>
          </a:prstGeom>
          <a:noFill/>
        </p:spPr>
        <p:txBody>
          <a:bodyPr wrap="none">
            <a:spAutoFit/>
          </a:bodyPr>
          <a:lstStyle/>
          <a:p>
            <a:pPr algn="ctr">
              <a:defRPr sz="1000" b="1" i="0">
                <a:solidFill>
                  <a:srgbClr val="FFFFFF"/>
                </a:solidFill>
                <a:latin typeface="Cairo"/>
              </a:defRPr>
            </a:pPr>
            <a:r>
              <a:t>محاكاة واجهة التطبيق | App UI Mockup</a:t>
            </a:r>
          </a:p>
        </p:txBody>
      </p:sp>
      <p:sp>
        <p:nvSpPr>
          <p:cNvPr id="7" name="Rectangle 6"/>
          <p:cNvSpPr/>
          <p:nvPr/>
        </p:nvSpPr>
        <p:spPr>
          <a:xfrm>
            <a:off x="832104" y="2286000"/>
            <a:ext cx="4572000" cy="3657600"/>
          </a:xfrm>
          <a:prstGeom prst="rect">
            <a:avLst/>
          </a:prstGeom>
          <a:solidFill>
            <a:srgbClr val="F8F7F5"/>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423160"/>
            <a:ext cx="4389120" cy="3383280"/>
          </a:xfrm>
          <a:prstGeom prst="rect">
            <a:avLst/>
          </a:prstGeom>
          <a:noFill/>
        </p:spPr>
        <p:txBody>
          <a:bodyPr wrap="square">
            <a:spAutoFit/>
          </a:bodyPr>
          <a:lstStyle/>
          <a:p>
            <a:pPr algn="ctr">
              <a:defRPr sz="1100" b="1" i="0">
                <a:solidFill>
                  <a:srgbClr val="0F172A"/>
                </a:solidFill>
                <a:latin typeface="Cairo"/>
              </a:defRPr>
            </a:pPr>
            <a:r>
              <a:t>[لقطة شاشة نشطة من الكود - Mockup Stage Screen]</a:t>
            </a:r>
          </a:p>
          <a:p/>
          <a:p>
            <a:pPr algn="r">
              <a:defRPr sz="1100" b="1" i="0">
                <a:solidFill>
                  <a:srgbClr val="0F172A"/>
                </a:solidFill>
                <a:latin typeface="Cairo"/>
              </a:defRPr>
            </a:pPr>
            <a:r>
              <a:t>مخطط التموضع والتوجيه البصري المقترح:</a:t>
            </a:r>
          </a:p>
          <a:p/>
          <a:p>
            <a:pPr algn="r">
              <a:defRPr sz="1000" b="0" i="1">
                <a:solidFill>
                  <a:srgbClr val="475569"/>
                </a:solidFill>
                <a:latin typeface="Cairo"/>
              </a:defRPr>
            </a:pPr>
            <a:r>
              <a:t>شاشة المخزون مع قصاصة ثانية لتحويلات المخزون أو أوامر الشراء.</a:t>
            </a:r>
          </a:p>
          <a:p/>
          <a:p/>
          <a:p>
            <a:pPr algn="r">
              <a:defRPr sz="800" b="0" i="1">
                <a:solidFill>
                  <a:srgbClr val="0F172A"/>
                </a:solidFill>
                <a:latin typeface="Cairo"/>
              </a:defRPr>
            </a:pPr>
            <a:r>
              <a:t>ملف التحقق بالكود:</a:t>
            </a:r>
            <a:br/>
            <a:r>
              <a:t>`lib/features/inventory/pages/`، `lib/features/inventory/data/remote/inventory_api_service.dart`، `lib/features/reports/data/remote/report_api_service.dart`.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7F5"/>
        </a:solidFill>
        <a:effectLst/>
      </p:bgPr>
    </p:bg>
    <p:spTree>
      <p:nvGrpSpPr>
        <p:cNvPr id="1" name=""/>
        <p:cNvGrpSpPr/>
        <p:nvPr/>
      </p:nvGrpSpPr>
      <p:grpSpPr/>
      <p:sp>
        <p:nvSpPr>
          <p:cNvPr id="2" name="TextBox 1"/>
          <p:cNvSpPr txBox="1"/>
          <p:nvPr/>
        </p:nvSpPr>
        <p:spPr>
          <a:xfrm>
            <a:off x="603504" y="365760"/>
            <a:ext cx="10972800" cy="1097280"/>
          </a:xfrm>
          <a:prstGeom prst="rect">
            <a:avLst/>
          </a:prstGeom>
          <a:noFill/>
        </p:spPr>
        <p:txBody>
          <a:bodyPr wrap="square" lIns="0" rIns="0" tIns="0" bIns="0">
            <a:spAutoFit/>
          </a:bodyPr>
          <a:lstStyle/>
          <a:p>
            <a:pPr algn="r">
              <a:defRPr sz="1200" b="1">
                <a:solidFill>
                  <a:srgbClr val="FD8209"/>
                </a:solidFill>
                <a:latin typeface="Cairo"/>
              </a:defRPr>
            </a:pPr>
            <a:r>
              <a:t>14  |</a:t>
            </a:r>
          </a:p>
          <a:p>
            <a:pPr algn="r">
              <a:defRPr sz="2200" b="1">
                <a:solidFill>
                  <a:srgbClr val="0F172A"/>
                </a:solidFill>
                <a:latin typeface="Cairo"/>
              </a:defRPr>
            </a:pPr>
            <a:r>
              <a:t>طرق دفع مرنة وتحكم مالي</a:t>
            </a:r>
          </a:p>
          <a:p>
            <a:pPr algn="r">
              <a:defRPr sz="1100">
                <a:solidFill>
                  <a:srgbClr val="475569"/>
                </a:solidFill>
                <a:latin typeface="Cairo"/>
              </a:defRPr>
            </a:pPr>
            <a:r>
              <a:t>يجمع Wameed POS بين تحصيل الكاشير، جلسات النقد، السجلات المالية، الاسترداد، بطاقات الهدايا، الأقساط، الولاء، رصيد المتجر، الديون، والذمم المدينة.</a:t>
            </a:r>
          </a:p>
        </p:txBody>
      </p:sp>
      <p:sp>
        <p:nvSpPr>
          <p:cNvPr id="3" name="TextBox 2"/>
          <p:cNvSpPr txBox="1"/>
          <p:nvPr/>
        </p:nvSpPr>
        <p:spPr>
          <a:xfrm>
            <a:off x="5943600" y="1645920"/>
            <a:ext cx="5632704" cy="4572000"/>
          </a:xfrm>
          <a:prstGeom prst="rect">
            <a:avLst/>
          </a:prstGeom>
          <a:noFill/>
        </p:spPr>
        <p:txBody>
          <a:bodyPr wrap="square">
            <a:spAutoFit/>
          </a:bodyPr>
          <a:lstStyle/>
          <a:p>
            <a:pPr algn="r">
              <a:defRPr sz="1400" b="1" i="0">
                <a:solidFill>
                  <a:srgbClr val="FD8209"/>
                </a:solidFill>
                <a:latin typeface="Cairo"/>
              </a:defRPr>
            </a:pPr>
            <a:r>
              <a:t>الميزات والعمليات الرئيسية</a:t>
            </a:r>
          </a:p>
          <a:p/>
          <a:p>
            <a:pPr algn="r">
              <a:defRPr sz="1200" b="0" i="0">
                <a:solidFill>
                  <a:srgbClr val="0F172A"/>
                </a:solidFill>
                <a:latin typeface="Cairo"/>
              </a:defRPr>
            </a:pPr>
            <a:r>
              <a:t>• قبول النقد، الدفع المقسّم، طرق الدفع الرقمية أو البطاقة المفعّلة، بطاقات الهدايا، رصيد المتجر، الكوبونات، والأقساط.</a:t>
            </a:r>
          </a:p>
          <a:p>
            <a:pPr>
              <a:defRPr sz="600"/>
            </a:pPr>
          </a:p>
          <a:p>
            <a:pPr algn="r">
              <a:defRPr sz="1200" b="0" i="0">
                <a:solidFill>
                  <a:srgbClr val="0F172A"/>
                </a:solidFill>
                <a:latin typeface="Cairo"/>
              </a:defRPr>
            </a:pPr>
            <a:r>
              <a:t>• يستخدم Android SoftPOS حزمة EdfaPay لعمليات tap-to-pay والرد عند التهيئة.</a:t>
            </a:r>
          </a:p>
          <a:p>
            <a:pPr>
              <a:defRPr sz="600"/>
            </a:pPr>
          </a:p>
          <a:p>
            <a:pPr algn="r">
              <a:defRPr sz="1200" b="0" i="0">
                <a:solidFill>
                  <a:srgbClr val="0F172A"/>
                </a:solidFill>
                <a:latin typeface="Cairo"/>
              </a:defRPr>
            </a:pPr>
            <a:r>
              <a:t>• تدعم جلسات النقد الفتح والإغلاق والأحداث وإدارة النقد والملخص اليومي والتسوية.</a:t>
            </a:r>
          </a:p>
          <a:p>
            <a:pPr>
              <a:defRPr sz="600"/>
            </a:pPr>
          </a:p>
          <a:p>
            <a:pPr algn="r">
              <a:defRPr sz="1200" b="0" i="0">
                <a:solidFill>
                  <a:srgbClr val="0F172A"/>
                </a:solidFill>
                <a:latin typeface="Cairo"/>
              </a:defRPr>
            </a:pPr>
            <a:r>
              <a:t>• تدعم APIs العملاء الملفات الشخصية، البحث، سجل الطلبات، إرسال الإيصال الرقمي، المجموعات، إعدادات وسجلات الولاء، تعديل واسترداد الولاء، سجل رصيد المتجر، الشحن، والتعديل.</a:t>
            </a:r>
          </a:p>
          <a:p>
            <a:pPr>
              <a:defRPr sz="600"/>
            </a:pPr>
          </a:p>
          <a:p>
            <a:pPr algn="r">
              <a:defRPr sz="1200" b="0" i="0">
                <a:solidFill>
                  <a:srgbClr val="0F172A"/>
                </a:solidFill>
                <a:latin typeface="Cairo"/>
              </a:defRPr>
            </a:pPr>
            <a:r>
              <a:t>• تضيف وحدات الديون والذمم المدينة تدفقات أرصدة العملاء لفرق المالية لدى المزوّد.</a:t>
            </a:r>
          </a:p>
          <a:p>
            <a:pPr>
              <a:defRPr sz="600"/>
            </a:pPr>
          </a:p>
        </p:txBody>
      </p:sp>
      <p:sp>
        <p:nvSpPr>
          <p:cNvPr id="4" name="Rounded Rectangle 3"/>
          <p:cNvSpPr/>
          <p:nvPr/>
        </p:nvSpPr>
        <p:spPr>
          <a:xfrm>
            <a:off x="603504" y="1645920"/>
            <a:ext cx="5029200" cy="457200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0664" y="1783080"/>
            <a:ext cx="4754880"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755648"/>
            <a:ext cx="4754880" cy="365760"/>
          </a:xfrm>
          <a:prstGeom prst="rect">
            <a:avLst/>
          </a:prstGeom>
          <a:noFill/>
        </p:spPr>
        <p:txBody>
          <a:bodyPr wrap="none">
            <a:spAutoFit/>
          </a:bodyPr>
          <a:lstStyle/>
          <a:p>
            <a:pPr algn="ctr">
              <a:defRPr sz="1000" b="1" i="0">
                <a:solidFill>
                  <a:srgbClr val="FFFFFF"/>
                </a:solidFill>
                <a:latin typeface="Cairo"/>
              </a:defRPr>
            </a:pPr>
            <a:r>
              <a:t>محاكاة واجهة التطبيق | App UI Mockup</a:t>
            </a:r>
          </a:p>
        </p:txBody>
      </p:sp>
      <p:sp>
        <p:nvSpPr>
          <p:cNvPr id="7" name="Rectangle 6"/>
          <p:cNvSpPr/>
          <p:nvPr/>
        </p:nvSpPr>
        <p:spPr>
          <a:xfrm>
            <a:off x="832104" y="2286000"/>
            <a:ext cx="4572000" cy="3657600"/>
          </a:xfrm>
          <a:prstGeom prst="rect">
            <a:avLst/>
          </a:prstGeom>
          <a:solidFill>
            <a:srgbClr val="F8F7F5"/>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423160"/>
            <a:ext cx="4389120" cy="3383280"/>
          </a:xfrm>
          <a:prstGeom prst="rect">
            <a:avLst/>
          </a:prstGeom>
          <a:noFill/>
        </p:spPr>
        <p:txBody>
          <a:bodyPr wrap="square">
            <a:spAutoFit/>
          </a:bodyPr>
          <a:lstStyle/>
          <a:p>
            <a:pPr algn="ctr">
              <a:defRPr sz="1100" b="1" i="0">
                <a:solidFill>
                  <a:srgbClr val="0F172A"/>
                </a:solidFill>
                <a:latin typeface="Cairo"/>
              </a:defRPr>
            </a:pPr>
            <a:r>
              <a:t>[لقطة شاشة نشطة من الكود - Mockup Stage Screen]</a:t>
            </a:r>
          </a:p>
          <a:p/>
          <a:p>
            <a:pPr algn="r">
              <a:defRPr sz="1100" b="1" i="0">
                <a:solidFill>
                  <a:srgbClr val="0F172A"/>
                </a:solidFill>
                <a:latin typeface="Cairo"/>
              </a:defRPr>
            </a:pPr>
            <a:r>
              <a:t>مخطط التموضع والتوجيه البصري المقترح:</a:t>
            </a:r>
          </a:p>
          <a:p/>
          <a:p>
            <a:pPr algn="r">
              <a:defRPr sz="1000" b="0" i="1">
                <a:solidFill>
                  <a:srgbClr val="475569"/>
                </a:solidFill>
                <a:latin typeface="Cairo"/>
              </a:defRPr>
            </a:pPr>
            <a:r>
              <a:t>نافذة الدفع، جلسة النقد، تفاصيل العميل، الولاء ورصيد المتجر، وشاشة التسوية.</a:t>
            </a:r>
          </a:p>
          <a:p/>
          <a:p/>
          <a:p>
            <a:pPr algn="r">
              <a:defRPr sz="800" b="0" i="1">
                <a:solidFill>
                  <a:srgbClr val="0F172A"/>
                </a:solidFill>
                <a:latin typeface="Cairo"/>
              </a:defRPr>
            </a:pPr>
            <a:r>
              <a:t>ملف التحقق بالكود:</a:t>
            </a:r>
            <a:br/>
            <a:r>
              <a:t>`lib/features/payments/data/remote/payment_api_service.dart`، `lib/features/payments/data/remote/installment_api_service.dart`، `lib/features/customers/data/remote/customer_api_service.dart`، `lib/features/debits/`، `lib/features/receivables/`، `lib/features/softpos/services/softpos_service.dart`.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7F5"/>
        </a:solidFill>
        <a:effectLst/>
      </p:bgPr>
    </p:bg>
    <p:spTree>
      <p:nvGrpSpPr>
        <p:cNvPr id="1" name=""/>
        <p:cNvGrpSpPr/>
        <p:nvPr/>
      </p:nvGrpSpPr>
      <p:grpSpPr/>
      <p:sp>
        <p:nvSpPr>
          <p:cNvPr id="2" name="TextBox 1"/>
          <p:cNvSpPr txBox="1"/>
          <p:nvPr/>
        </p:nvSpPr>
        <p:spPr>
          <a:xfrm>
            <a:off x="603504" y="365760"/>
            <a:ext cx="10972800" cy="1097280"/>
          </a:xfrm>
          <a:prstGeom prst="rect">
            <a:avLst/>
          </a:prstGeom>
          <a:noFill/>
        </p:spPr>
        <p:txBody>
          <a:bodyPr wrap="square" lIns="0" rIns="0" tIns="0" bIns="0">
            <a:spAutoFit/>
          </a:bodyPr>
          <a:lstStyle/>
          <a:p>
            <a:pPr algn="r">
              <a:defRPr sz="1200" b="1">
                <a:solidFill>
                  <a:srgbClr val="FD8209"/>
                </a:solidFill>
                <a:latin typeface="Cairo"/>
              </a:defRPr>
            </a:pPr>
            <a:r>
              <a:t>15  |</a:t>
            </a:r>
          </a:p>
          <a:p>
            <a:pPr algn="r">
              <a:defRPr sz="2200" b="1">
                <a:solidFill>
                  <a:srgbClr val="0F172A"/>
                </a:solidFill>
                <a:latin typeface="Cairo"/>
              </a:defRPr>
            </a:pPr>
            <a:r>
              <a:t>حملات تصل إلى الكاشير</a:t>
            </a:r>
          </a:p>
          <a:p>
            <a:pPr algn="r">
              <a:defRPr sz="1100">
                <a:solidFill>
                  <a:srgbClr val="475569"/>
                </a:solidFill>
                <a:latin typeface="Cairo"/>
              </a:defRPr>
            </a:pPr>
            <a:r>
              <a:t>تعمل إدارة العروض ومزامنة عروض POS والكوبونات ومجموعات العملاء والولاء ورصيد المتجر معاً داخل Wameed POS.</a:t>
            </a:r>
          </a:p>
        </p:txBody>
      </p:sp>
      <p:sp>
        <p:nvSpPr>
          <p:cNvPr id="3" name="TextBox 2"/>
          <p:cNvSpPr txBox="1"/>
          <p:nvPr/>
        </p:nvSpPr>
        <p:spPr>
          <a:xfrm>
            <a:off x="5943600" y="1645920"/>
            <a:ext cx="5632704" cy="4572000"/>
          </a:xfrm>
          <a:prstGeom prst="rect">
            <a:avLst/>
          </a:prstGeom>
          <a:noFill/>
        </p:spPr>
        <p:txBody>
          <a:bodyPr wrap="square">
            <a:spAutoFit/>
          </a:bodyPr>
          <a:lstStyle/>
          <a:p>
            <a:pPr algn="r">
              <a:defRPr sz="1400" b="1" i="0">
                <a:solidFill>
                  <a:srgbClr val="FD8209"/>
                </a:solidFill>
                <a:latin typeface="Cairo"/>
              </a:defRPr>
            </a:pPr>
            <a:r>
              <a:t>الميزات والعمليات الرئيسية</a:t>
            </a:r>
          </a:p>
          <a:p/>
          <a:p>
            <a:pPr algn="r">
              <a:defRPr sz="1200" b="0" i="0">
                <a:solidFill>
                  <a:srgbClr val="0F172A"/>
                </a:solidFill>
                <a:latin typeface="Cairo"/>
              </a:defRPr>
            </a:pPr>
            <a:r>
              <a:t>• تشمل صفحات العروض قائمة العروض، التحليلات، إدارة الكوبونات، وتدفقات الحملات.</a:t>
            </a:r>
          </a:p>
          <a:p>
            <a:pPr>
              <a:defRPr sz="600"/>
            </a:pPr>
          </a:p>
          <a:p>
            <a:pPr algn="r">
              <a:defRPr sz="1200" b="0" i="0">
                <a:solidFill>
                  <a:srgbClr val="0F172A"/>
                </a:solidFill>
                <a:latin typeface="Cairo"/>
              </a:defRPr>
            </a:pPr>
            <a:r>
              <a:t>• تدعم APIs العروض CRUD، التفعيل والتعطيل، التحقق، الاسترداد، توليد الكوبونات، التوليد الجماعي، النسخ، التحليلات، سجلات الاستخدام، تقييم السلة، ومزامنة POS.</a:t>
            </a:r>
          </a:p>
          <a:p>
            <a:pPr>
              <a:defRPr sz="600"/>
            </a:pPr>
          </a:p>
          <a:p>
            <a:pPr algn="r">
              <a:defRPr sz="1200" b="0" i="0">
                <a:solidFill>
                  <a:srgbClr val="0F172A"/>
                </a:solidFill>
                <a:latin typeface="Cairo"/>
              </a:defRPr>
            </a:pPr>
            <a:r>
              <a:t>• تعكس قاعدة POS المحلية العروض النشطة وأكواد الكوبونات لاستخدامها أثناء البيع.</a:t>
            </a:r>
          </a:p>
          <a:p>
            <a:pPr>
              <a:defRPr sz="600"/>
            </a:pPr>
          </a:p>
          <a:p>
            <a:pPr algn="r">
              <a:defRPr sz="1200" b="0" i="0">
                <a:solidFill>
                  <a:srgbClr val="0F172A"/>
                </a:solidFill>
                <a:latin typeface="Cairo"/>
              </a:defRPr>
            </a:pPr>
            <a:r>
              <a:t>• تمنح مجموعات العملاء والولاء ورصيد المتجر المزوّد طرقاً أوسع للتعرف على العملاء وإدارة المبيعات المتكررة.</a:t>
            </a:r>
          </a:p>
          <a:p>
            <a:pPr>
              <a:defRPr sz="600"/>
            </a:pPr>
          </a:p>
        </p:txBody>
      </p:sp>
      <p:sp>
        <p:nvSpPr>
          <p:cNvPr id="4" name="Rounded Rectangle 3"/>
          <p:cNvSpPr/>
          <p:nvPr/>
        </p:nvSpPr>
        <p:spPr>
          <a:xfrm>
            <a:off x="603504" y="1645920"/>
            <a:ext cx="5029200" cy="457200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0664" y="1783080"/>
            <a:ext cx="4754880"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755648"/>
            <a:ext cx="4754880" cy="365760"/>
          </a:xfrm>
          <a:prstGeom prst="rect">
            <a:avLst/>
          </a:prstGeom>
          <a:noFill/>
        </p:spPr>
        <p:txBody>
          <a:bodyPr wrap="none">
            <a:spAutoFit/>
          </a:bodyPr>
          <a:lstStyle/>
          <a:p>
            <a:pPr algn="ctr">
              <a:defRPr sz="1000" b="1" i="0">
                <a:solidFill>
                  <a:srgbClr val="FFFFFF"/>
                </a:solidFill>
                <a:latin typeface="Cairo"/>
              </a:defRPr>
            </a:pPr>
            <a:r>
              <a:t>محاكاة واجهة التطبيق | App UI Mockup</a:t>
            </a:r>
          </a:p>
        </p:txBody>
      </p:sp>
      <p:sp>
        <p:nvSpPr>
          <p:cNvPr id="7" name="Rectangle 6"/>
          <p:cNvSpPr/>
          <p:nvPr/>
        </p:nvSpPr>
        <p:spPr>
          <a:xfrm>
            <a:off x="832104" y="2286000"/>
            <a:ext cx="4572000" cy="3657600"/>
          </a:xfrm>
          <a:prstGeom prst="rect">
            <a:avLst/>
          </a:prstGeom>
          <a:solidFill>
            <a:srgbClr val="F8F7F5"/>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423160"/>
            <a:ext cx="4389120" cy="3383280"/>
          </a:xfrm>
          <a:prstGeom prst="rect">
            <a:avLst/>
          </a:prstGeom>
          <a:noFill/>
        </p:spPr>
        <p:txBody>
          <a:bodyPr wrap="square">
            <a:spAutoFit/>
          </a:bodyPr>
          <a:lstStyle/>
          <a:p>
            <a:pPr algn="ctr">
              <a:defRPr sz="1100" b="1" i="0">
                <a:solidFill>
                  <a:srgbClr val="0F172A"/>
                </a:solidFill>
                <a:latin typeface="Cairo"/>
              </a:defRPr>
            </a:pPr>
            <a:r>
              <a:t>[لقطة شاشة نشطة من الكود - Mockup Stage Screen]</a:t>
            </a:r>
          </a:p>
          <a:p/>
          <a:p>
            <a:pPr algn="r">
              <a:defRPr sz="1100" b="1" i="0">
                <a:solidFill>
                  <a:srgbClr val="0F172A"/>
                </a:solidFill>
                <a:latin typeface="Cairo"/>
              </a:defRPr>
            </a:pPr>
            <a:r>
              <a:t>مخطط التموضع والتوجيه البصري المقترح:</a:t>
            </a:r>
          </a:p>
          <a:p/>
          <a:p>
            <a:pPr algn="r">
              <a:defRPr sz="1000" b="0" i="1">
                <a:solidFill>
                  <a:srgbClr val="475569"/>
                </a:solidFill>
                <a:latin typeface="Cairo"/>
              </a:defRPr>
            </a:pPr>
            <a:r>
              <a:t>قائمة العروض، إدارة الكوبونات، شاشة مجموعة العملاء أو الولاء، وحقل الكوبون في POS.</a:t>
            </a:r>
          </a:p>
          <a:p/>
          <a:p/>
          <a:p>
            <a:pPr algn="r">
              <a:defRPr sz="800" b="0" i="1">
                <a:solidFill>
                  <a:srgbClr val="0F172A"/>
                </a:solidFill>
                <a:latin typeface="Cairo"/>
              </a:defRPr>
            </a:pPr>
            <a:r>
              <a:t>ملف التحقق بالكود:</a:t>
            </a:r>
            <a:br/>
            <a:r>
              <a:t>`lib/features/promotions/data/remote/promotion_api_service.dart`، `lib/features/promotions/pages/`، `lib/features/customers/data/remote/customer_api_service.dart`، `lib/features/pos_terminal/data/local/pos_offline_database.dart`.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7F5"/>
        </a:solidFill>
        <a:effectLst/>
      </p:bgPr>
    </p:bg>
    <p:spTree>
      <p:nvGrpSpPr>
        <p:cNvPr id="1" name=""/>
        <p:cNvGrpSpPr/>
        <p:nvPr/>
      </p:nvGrpSpPr>
      <p:grpSpPr/>
      <p:sp>
        <p:nvSpPr>
          <p:cNvPr id="2" name="TextBox 1"/>
          <p:cNvSpPr txBox="1"/>
          <p:nvPr/>
        </p:nvSpPr>
        <p:spPr>
          <a:xfrm>
            <a:off x="603504" y="365760"/>
            <a:ext cx="10972800" cy="1097280"/>
          </a:xfrm>
          <a:prstGeom prst="rect">
            <a:avLst/>
          </a:prstGeom>
          <a:noFill/>
        </p:spPr>
        <p:txBody>
          <a:bodyPr wrap="square" lIns="0" rIns="0" tIns="0" bIns="0">
            <a:spAutoFit/>
          </a:bodyPr>
          <a:lstStyle/>
          <a:p>
            <a:pPr algn="r">
              <a:defRPr sz="1200" b="1">
                <a:solidFill>
                  <a:srgbClr val="FD8209"/>
                </a:solidFill>
                <a:latin typeface="Cairo"/>
              </a:defRPr>
            </a:pPr>
            <a:r>
              <a:t>16  |</a:t>
            </a:r>
          </a:p>
          <a:p>
            <a:pPr algn="r">
              <a:defRPr sz="2200" b="1">
                <a:solidFill>
                  <a:srgbClr val="0F172A"/>
                </a:solidFill>
                <a:latin typeface="Cairo"/>
              </a:defRPr>
            </a:pPr>
            <a:r>
              <a:t>فرق المتجر والفروع والصلاحيات</a:t>
            </a:r>
          </a:p>
          <a:p>
            <a:pPr algn="r">
              <a:defRPr sz="1100">
                <a:solidFill>
                  <a:srgbClr val="475569"/>
                </a:solidFill>
                <a:latin typeface="Cairo"/>
              </a:defRPr>
            </a:pPr>
            <a:r>
              <a:t>يدعم Wameed POS سجلات الموظفين، الأدوار، الصلاحيات، الحضور، الورديات، العمولات، المستندات، التدريب، ضوابط الفروع، التهيئة، وإعدادات المتجر.</a:t>
            </a:r>
          </a:p>
        </p:txBody>
      </p:sp>
      <p:sp>
        <p:nvSpPr>
          <p:cNvPr id="3" name="TextBox 2"/>
          <p:cNvSpPr txBox="1"/>
          <p:nvPr/>
        </p:nvSpPr>
        <p:spPr>
          <a:xfrm>
            <a:off x="5943600" y="1645920"/>
            <a:ext cx="5632704" cy="4572000"/>
          </a:xfrm>
          <a:prstGeom prst="rect">
            <a:avLst/>
          </a:prstGeom>
          <a:noFill/>
        </p:spPr>
        <p:txBody>
          <a:bodyPr wrap="square">
            <a:spAutoFit/>
          </a:bodyPr>
          <a:lstStyle/>
          <a:p>
            <a:pPr algn="r">
              <a:defRPr sz="1400" b="1" i="0">
                <a:solidFill>
                  <a:srgbClr val="FD8209"/>
                </a:solidFill>
                <a:latin typeface="Cairo"/>
              </a:defRPr>
            </a:pPr>
            <a:r>
              <a:t>الميزات والعمليات الرئيسية</a:t>
            </a:r>
          </a:p>
          <a:p/>
          <a:p>
            <a:pPr algn="r">
              <a:defRPr sz="1200" b="0" i="0">
                <a:solidFill>
                  <a:srgbClr val="0F172A"/>
                </a:solidFill>
                <a:latin typeface="Cairo"/>
              </a:defRPr>
            </a:pPr>
            <a:r>
              <a:t>• تدعم وحدة الموظفين CRUD للموظفين، إعداد PIN، تسجيل شارة NFC، إسناد الفروع، سجلات النشاط، إحصائيات الموظفين، المستندات، وجلسات التدريب.</a:t>
            </a:r>
          </a:p>
          <a:p>
            <a:pPr>
              <a:defRPr sz="600"/>
            </a:pPr>
          </a:p>
          <a:p>
            <a:pPr algn="r">
              <a:defRPr sz="1200" b="0" i="0">
                <a:solidFill>
                  <a:srgbClr val="0F172A"/>
                </a:solidFill>
                <a:latin typeface="Cairo"/>
              </a:defRPr>
            </a:pPr>
            <a:r>
              <a:t>• يدعم الحضور تسجيل الدخول والخروج، بدء ونهاية الاستراحة، ملخص الحضور، والتصدير.</a:t>
            </a:r>
          </a:p>
          <a:p>
            <a:pPr>
              <a:defRPr sz="600"/>
            </a:pPr>
          </a:p>
          <a:p>
            <a:pPr algn="r">
              <a:defRPr sz="1200" b="0" i="0">
                <a:solidFill>
                  <a:srgbClr val="0F172A"/>
                </a:solidFill>
                <a:latin typeface="Cairo"/>
              </a:defRPr>
            </a:pPr>
            <a:r>
              <a:t>• يدعم جدول الورديات إنشاء الورديات، قوالب الورديات، الإنشاء الجماعي، التحديث، والحذف.</a:t>
            </a:r>
          </a:p>
          <a:p>
            <a:pPr>
              <a:defRPr sz="600"/>
            </a:pPr>
          </a:p>
          <a:p>
            <a:pPr algn="r">
              <a:defRPr sz="1200" b="0" i="0">
                <a:solidFill>
                  <a:srgbClr val="0F172A"/>
                </a:solidFill>
                <a:latin typeface="Cairo"/>
              </a:defRPr>
            </a:pPr>
            <a:r>
              <a:t>• تدعم الأدوار إنشاء أدوار مخصصة، إسناد الصلاحيات، جلب الصلاحيات المجمعة، الصلاحيات المحمية بـ PIN، تجاوز مدير عبر PIN، وسجل تدقيق الأدوار.</a:t>
            </a:r>
          </a:p>
          <a:p>
            <a:pPr>
              <a:defRPr sz="600"/>
            </a:pPr>
          </a:p>
          <a:p>
            <a:pPr algn="r">
              <a:defRPr sz="1200" b="0" i="0">
                <a:solidFill>
                  <a:srgbClr val="0F172A"/>
                </a:solidFill>
                <a:latin typeface="Cairo"/>
              </a:defRPr>
            </a:pPr>
            <a:r>
              <a:t>• تدعم APIs الفروع والتهيئة إعداد الفرع، ساعات العمل، افتراضيات نوع النشاط، قوالب الفئات، قوالب الورديات، إعداد الولاء، قوالب التحفيز، ومقالات المساعدة.</a:t>
            </a:r>
          </a:p>
          <a:p>
            <a:pPr>
              <a:defRPr sz="600"/>
            </a:pPr>
          </a:p>
        </p:txBody>
      </p:sp>
      <p:sp>
        <p:nvSpPr>
          <p:cNvPr id="4" name="Rounded Rectangle 3"/>
          <p:cNvSpPr/>
          <p:nvPr/>
        </p:nvSpPr>
        <p:spPr>
          <a:xfrm>
            <a:off x="603504" y="1645920"/>
            <a:ext cx="5029200" cy="457200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0664" y="1783080"/>
            <a:ext cx="4754880"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755648"/>
            <a:ext cx="4754880" cy="365760"/>
          </a:xfrm>
          <a:prstGeom prst="rect">
            <a:avLst/>
          </a:prstGeom>
          <a:noFill/>
        </p:spPr>
        <p:txBody>
          <a:bodyPr wrap="none">
            <a:spAutoFit/>
          </a:bodyPr>
          <a:lstStyle/>
          <a:p>
            <a:pPr algn="ctr">
              <a:defRPr sz="1000" b="1" i="0">
                <a:solidFill>
                  <a:srgbClr val="FFFFFF"/>
                </a:solidFill>
                <a:latin typeface="Cairo"/>
              </a:defRPr>
            </a:pPr>
            <a:r>
              <a:t>محاكاة واجهة التطبيق | App UI Mockup</a:t>
            </a:r>
          </a:p>
        </p:txBody>
      </p:sp>
      <p:sp>
        <p:nvSpPr>
          <p:cNvPr id="7" name="Rectangle 6"/>
          <p:cNvSpPr/>
          <p:nvPr/>
        </p:nvSpPr>
        <p:spPr>
          <a:xfrm>
            <a:off x="832104" y="2286000"/>
            <a:ext cx="4572000" cy="3657600"/>
          </a:xfrm>
          <a:prstGeom prst="rect">
            <a:avLst/>
          </a:prstGeom>
          <a:solidFill>
            <a:srgbClr val="F8F7F5"/>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423160"/>
            <a:ext cx="4389120" cy="3383280"/>
          </a:xfrm>
          <a:prstGeom prst="rect">
            <a:avLst/>
          </a:prstGeom>
          <a:noFill/>
        </p:spPr>
        <p:txBody>
          <a:bodyPr wrap="square">
            <a:spAutoFit/>
          </a:bodyPr>
          <a:lstStyle/>
          <a:p>
            <a:pPr algn="ctr">
              <a:defRPr sz="1100" b="1" i="0">
                <a:solidFill>
                  <a:srgbClr val="0F172A"/>
                </a:solidFill>
                <a:latin typeface="Cairo"/>
              </a:defRPr>
            </a:pPr>
            <a:r>
              <a:t>[لقطة شاشة نشطة من الكود - Mockup Stage Screen]</a:t>
            </a:r>
          </a:p>
          <a:p/>
          <a:p>
            <a:pPr algn="r">
              <a:defRPr sz="1100" b="1" i="0">
                <a:solidFill>
                  <a:srgbClr val="0F172A"/>
                </a:solidFill>
                <a:latin typeface="Cairo"/>
              </a:defRPr>
            </a:pPr>
            <a:r>
              <a:t>مخطط التموضع والتوجيه البصري المقترح:</a:t>
            </a:r>
          </a:p>
          <a:p/>
          <a:p>
            <a:pPr algn="r">
              <a:defRPr sz="1000" b="0" i="1">
                <a:solidFill>
                  <a:srgbClr val="475569"/>
                </a:solidFill>
                <a:latin typeface="Cairo"/>
              </a:defRPr>
            </a:pPr>
            <a:r>
              <a:t>قائمة أو تفاصيل الأدوار، نموذج أو تفاصيل الموظف، الحضور، تقويم الورديات، إعدادات الفرع، ومعالج التهيئة.</a:t>
            </a:r>
          </a:p>
          <a:p/>
          <a:p/>
          <a:p>
            <a:pPr algn="r">
              <a:defRPr sz="800" b="0" i="1">
                <a:solidFill>
                  <a:srgbClr val="0F172A"/>
                </a:solidFill>
                <a:latin typeface="Cairo"/>
              </a:defRPr>
            </a:pPr>
            <a:r>
              <a:t>ملف التحقق بالكود:</a:t>
            </a:r>
            <a:br/>
            <a:r>
              <a:t>`lib/features/staff/data/remote/staff_api_service.dart`، `lib/features/staff/data/remote/role_api_service.dart`، `lib/features/branches/data/remote/branch_api_service.dart`، `lib/features/onboarding/data/remote/onboarding_api_service.dart`، `lib/features/settings/data/remote/settings_api_service.dart`.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7F5"/>
        </a:solidFill>
        <a:effectLst/>
      </p:bgPr>
    </p:bg>
    <p:spTree>
      <p:nvGrpSpPr>
        <p:cNvPr id="1" name=""/>
        <p:cNvGrpSpPr/>
        <p:nvPr/>
      </p:nvGrpSpPr>
      <p:grpSpPr/>
      <p:sp>
        <p:nvSpPr>
          <p:cNvPr id="2" name="TextBox 1"/>
          <p:cNvSpPr txBox="1"/>
          <p:nvPr/>
        </p:nvSpPr>
        <p:spPr>
          <a:xfrm>
            <a:off x="603504" y="365760"/>
            <a:ext cx="10972800" cy="1097280"/>
          </a:xfrm>
          <a:prstGeom prst="rect">
            <a:avLst/>
          </a:prstGeom>
          <a:noFill/>
        </p:spPr>
        <p:txBody>
          <a:bodyPr wrap="square" lIns="0" rIns="0" tIns="0" bIns="0">
            <a:spAutoFit/>
          </a:bodyPr>
          <a:lstStyle/>
          <a:p>
            <a:pPr algn="r">
              <a:defRPr sz="1200" b="1">
                <a:solidFill>
                  <a:srgbClr val="FD8209"/>
                </a:solidFill>
                <a:latin typeface="Cairo"/>
              </a:defRPr>
            </a:pPr>
            <a:r>
              <a:t>17  |</a:t>
            </a:r>
          </a:p>
          <a:p>
            <a:pPr algn="r">
              <a:defRPr sz="2200" b="1">
                <a:solidFill>
                  <a:srgbClr val="0F172A"/>
                </a:solidFill>
                <a:latin typeface="Cairo"/>
              </a:defRPr>
            </a:pPr>
            <a:r>
              <a:t>قرارات وامتثال وتصدير</a:t>
            </a:r>
          </a:p>
          <a:p>
            <a:pPr algn="r">
              <a:defRPr sz="1100">
                <a:solidFill>
                  <a:srgbClr val="475569"/>
                </a:solidFill>
                <a:latin typeface="Cairo"/>
              </a:defRPr>
            </a:pPr>
            <a:r>
              <a:t>يتضمن Wameed POS لوحات معلومات، تقارير تشغيلية، مشاهد مالية، تصدير محاسبي، تدفقات ZATCA، إعدادات ضريبية، وإعدادات سياسات الأمان.</a:t>
            </a:r>
          </a:p>
        </p:txBody>
      </p:sp>
      <p:sp>
        <p:nvSpPr>
          <p:cNvPr id="3" name="TextBox 2"/>
          <p:cNvSpPr txBox="1"/>
          <p:nvPr/>
        </p:nvSpPr>
        <p:spPr>
          <a:xfrm>
            <a:off x="5943600" y="1645920"/>
            <a:ext cx="5632704" cy="4572000"/>
          </a:xfrm>
          <a:prstGeom prst="rect">
            <a:avLst/>
          </a:prstGeom>
          <a:noFill/>
        </p:spPr>
        <p:txBody>
          <a:bodyPr wrap="square">
            <a:spAutoFit/>
          </a:bodyPr>
          <a:lstStyle/>
          <a:p>
            <a:pPr algn="r">
              <a:defRPr sz="1400" b="1" i="0">
                <a:solidFill>
                  <a:srgbClr val="FD8209"/>
                </a:solidFill>
                <a:latin typeface="Cairo"/>
              </a:defRPr>
            </a:pPr>
            <a:r>
              <a:t>الميزات والعمليات الرئيسية</a:t>
            </a:r>
          </a:p>
          <a:p/>
          <a:p>
            <a:pPr algn="r">
              <a:defRPr sz="1200" b="0" i="0">
                <a:solidFill>
                  <a:srgbClr val="0F172A"/>
                </a:solidFill>
                <a:latin typeface="Cairo"/>
              </a:defRPr>
            </a:pPr>
            <a:r>
              <a:t>• تشمل التقارير ملخص المبيعات، أداء المنتجات، تحليل الفئات، أداء الموظفين، المبيعات بالساعة، طرق الدفع، لوحة المعلومات، المنتجات بطيئة الحركة، الهامش، تقييم المخزون، الدوران، الفاقد، انخفاض المخزون، الصلاحية، الربح والخسارة اليومي، المصروفات، فروقات النقد، أفضل العملاء، الاحتفاظ، عمولة التوصيل، التصدير، والجدولة.</a:t>
            </a:r>
          </a:p>
          <a:p>
            <a:pPr>
              <a:defRPr sz="600"/>
            </a:pPr>
          </a:p>
          <a:p>
            <a:pPr algn="r">
              <a:defRPr sz="1200" b="0" i="0">
                <a:solidFill>
                  <a:srgbClr val="0F172A"/>
                </a:solidFill>
                <a:latin typeface="Cairo"/>
              </a:defRPr>
            </a:pPr>
            <a:r>
              <a:t>• تجمع لوحة المالك إحصائيات، اتجاه المبيعات، أفضل المنتجات، انخفاض المخزون، الكاشير النشطين، الطلبات الأخيرة، الملخص المالي، المبيعات بالساعة، الفروع، وأداء الموظفين.</a:t>
            </a:r>
          </a:p>
          <a:p>
            <a:pPr>
              <a:defRPr sz="600"/>
            </a:pPr>
          </a:p>
          <a:p>
            <a:pPr algn="r">
              <a:defRPr sz="1200" b="0" i="0">
                <a:solidFill>
                  <a:srgbClr val="0F172A"/>
                </a:solidFill>
                <a:latin typeface="Cairo"/>
              </a:defRPr>
            </a:pPr>
            <a:r>
              <a:t>• تدعم وحدة المحاسبة حالة الاتصال، اتصال المزوّد، تحديث الرمز، ربط الحسابات، مفاتيح حسابات POS، التصدير اليدوي، سجل التصدير، إعادة المحاولة، وإعداد التصدير التلقائي.</a:t>
            </a:r>
          </a:p>
          <a:p>
            <a:pPr>
              <a:defRPr sz="600"/>
            </a:pPr>
          </a:p>
          <a:p>
            <a:pPr algn="r">
              <a:defRPr sz="1200" b="0" i="0">
                <a:solidFill>
                  <a:srgbClr val="0F172A"/>
                </a:solidFill>
                <a:latin typeface="Cairo"/>
              </a:defRPr>
            </a:pPr>
            <a:r>
              <a:t>• تدعم APIs ZATCA التسجيل، التجديد، إرسال الفواتير، الإرسال الجماعي، قائمة وتفاصيل وXML الفواتير، إعادة المحاولة، ملخص الامتثال، حالة الاتصال، تقرير VAT، تجهيز الأجهزة، التفعيل، إعادة ضبط العبث، والتحقق من السلسلة.</a:t>
            </a:r>
          </a:p>
          <a:p>
            <a:pPr>
              <a:defRPr sz="600"/>
            </a:pPr>
          </a:p>
          <a:p>
            <a:pPr algn="r">
              <a:defRPr sz="1200" b="0" i="0">
                <a:solidFill>
                  <a:srgbClr val="0F172A"/>
                </a:solidFill>
                <a:latin typeface="Cairo"/>
              </a:defRPr>
            </a:pPr>
            <a:r>
              <a:t>• تدعم إعدادات المزوّد الضريبة، قيود العمر، طرق الدفع، كتالوج الأجهزة، الترجمات واللغات، وسياسات الأمان.</a:t>
            </a:r>
          </a:p>
          <a:p>
            <a:pPr>
              <a:defRPr sz="600"/>
            </a:pPr>
          </a:p>
        </p:txBody>
      </p:sp>
      <p:sp>
        <p:nvSpPr>
          <p:cNvPr id="4" name="Rounded Rectangle 3"/>
          <p:cNvSpPr/>
          <p:nvPr/>
        </p:nvSpPr>
        <p:spPr>
          <a:xfrm>
            <a:off x="603504" y="1645920"/>
            <a:ext cx="5029200" cy="457200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0664" y="1783080"/>
            <a:ext cx="4754880"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755648"/>
            <a:ext cx="4754880" cy="365760"/>
          </a:xfrm>
          <a:prstGeom prst="rect">
            <a:avLst/>
          </a:prstGeom>
          <a:noFill/>
        </p:spPr>
        <p:txBody>
          <a:bodyPr wrap="none">
            <a:spAutoFit/>
          </a:bodyPr>
          <a:lstStyle/>
          <a:p>
            <a:pPr algn="ctr">
              <a:defRPr sz="1000" b="1" i="0">
                <a:solidFill>
                  <a:srgbClr val="FFFFFF"/>
                </a:solidFill>
                <a:latin typeface="Cairo"/>
              </a:defRPr>
            </a:pPr>
            <a:r>
              <a:t>محاكاة واجهة التطبيق | App UI Mockup</a:t>
            </a:r>
          </a:p>
        </p:txBody>
      </p:sp>
      <p:sp>
        <p:nvSpPr>
          <p:cNvPr id="7" name="Rectangle 6"/>
          <p:cNvSpPr/>
          <p:nvPr/>
        </p:nvSpPr>
        <p:spPr>
          <a:xfrm>
            <a:off x="832104" y="2286000"/>
            <a:ext cx="4572000" cy="3657600"/>
          </a:xfrm>
          <a:prstGeom prst="rect">
            <a:avLst/>
          </a:prstGeom>
          <a:solidFill>
            <a:srgbClr val="F8F7F5"/>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423160"/>
            <a:ext cx="4389120" cy="3383280"/>
          </a:xfrm>
          <a:prstGeom prst="rect">
            <a:avLst/>
          </a:prstGeom>
          <a:noFill/>
        </p:spPr>
        <p:txBody>
          <a:bodyPr wrap="square">
            <a:spAutoFit/>
          </a:bodyPr>
          <a:lstStyle/>
          <a:p>
            <a:pPr algn="ctr">
              <a:defRPr sz="1100" b="1" i="0">
                <a:solidFill>
                  <a:srgbClr val="0F172A"/>
                </a:solidFill>
                <a:latin typeface="Cairo"/>
              </a:defRPr>
            </a:pPr>
            <a:r>
              <a:t>[لقطة شاشة نشطة من الكود - Mockup Stage Screen]</a:t>
            </a:r>
          </a:p>
          <a:p/>
          <a:p>
            <a:pPr algn="r">
              <a:defRPr sz="1100" b="1" i="0">
                <a:solidFill>
                  <a:srgbClr val="0F172A"/>
                </a:solidFill>
                <a:latin typeface="Cairo"/>
              </a:defRPr>
            </a:pPr>
            <a:r>
              <a:t>مخطط التموضع والتوجيه البصري المقترح:</a:t>
            </a:r>
          </a:p>
          <a:p/>
          <a:p>
            <a:pPr algn="r">
              <a:defRPr sz="1000" b="0" i="1">
                <a:solidFill>
                  <a:srgbClr val="475569"/>
                </a:solidFill>
                <a:latin typeface="Cairo"/>
              </a:defRPr>
            </a:pPr>
            <a:r>
              <a:t>لوحة المالك، لوحة التقارير، سجل التصدير المحاسبي، لوحة ZATCA، وتقرير VAT.</a:t>
            </a:r>
          </a:p>
          <a:p/>
          <a:p/>
          <a:p>
            <a:pPr algn="r">
              <a:defRPr sz="800" b="0" i="1">
                <a:solidFill>
                  <a:srgbClr val="0F172A"/>
                </a:solidFill>
                <a:latin typeface="Cairo"/>
              </a:defRPr>
            </a:pPr>
            <a:r>
              <a:t>ملف التحقق بالكود:</a:t>
            </a:r>
            <a:br/>
            <a:r>
              <a:t>`lib/features/reports/data/remote/report_api_service.dart`، `lib/features/dashboard/data/remote/dashboard_api_service.dart`، `lib/features/accounting/data/remote/accounting_api_service.dart`، `lib/features/zatca/data/remote/zatca_api_service.dart`، `lib/features/settings/data/remote/config_api_service.dart`.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7F5"/>
        </a:solidFill>
        <a:effectLst/>
      </p:bgPr>
    </p:bg>
    <p:spTree>
      <p:nvGrpSpPr>
        <p:cNvPr id="1" name=""/>
        <p:cNvGrpSpPr/>
        <p:nvPr/>
      </p:nvGrpSpPr>
      <p:grpSpPr/>
      <p:sp>
        <p:nvSpPr>
          <p:cNvPr id="2" name="TextBox 1"/>
          <p:cNvSpPr txBox="1"/>
          <p:nvPr/>
        </p:nvSpPr>
        <p:spPr>
          <a:xfrm>
            <a:off x="603504" y="365760"/>
            <a:ext cx="10972800" cy="1097280"/>
          </a:xfrm>
          <a:prstGeom prst="rect">
            <a:avLst/>
          </a:prstGeom>
          <a:noFill/>
        </p:spPr>
        <p:txBody>
          <a:bodyPr wrap="square" lIns="0" rIns="0" tIns="0" bIns="0">
            <a:spAutoFit/>
          </a:bodyPr>
          <a:lstStyle/>
          <a:p>
            <a:pPr algn="r">
              <a:defRPr sz="1200" b="1">
                <a:solidFill>
                  <a:srgbClr val="FD8209"/>
                </a:solidFill>
                <a:latin typeface="Cairo"/>
              </a:defRPr>
            </a:pPr>
            <a:r>
              <a:t>18  |</a:t>
            </a:r>
          </a:p>
          <a:p>
            <a:pPr algn="r">
              <a:defRPr sz="2200" b="1">
                <a:solidFill>
                  <a:srgbClr val="0F172A"/>
                </a:solidFill>
                <a:latin typeface="Cairo"/>
              </a:defRPr>
            </a:pPr>
            <a:r>
              <a:t>تجربة المتجر داخل التطبيق</a:t>
            </a:r>
          </a:p>
          <a:p>
            <a:pPr algn="r">
              <a:defRPr sz="1100">
                <a:solidFill>
                  <a:srgbClr val="475569"/>
                </a:solidFill>
                <a:latin typeface="Cairo"/>
              </a:defRPr>
            </a:pPr>
            <a:r>
              <a:t>يتضمن Wameed POS الملصقات، إعداد الأجهزة، قراءة الباركود، شاشة العميل، التخصيص، التوطين، الوصول، الإشعارات، الدعم، الاشتراكات، والتحديثات التلقائية.</a:t>
            </a:r>
          </a:p>
        </p:txBody>
      </p:sp>
      <p:sp>
        <p:nvSpPr>
          <p:cNvPr id="3" name="TextBox 2"/>
          <p:cNvSpPr txBox="1"/>
          <p:nvPr/>
        </p:nvSpPr>
        <p:spPr>
          <a:xfrm>
            <a:off x="5943600" y="1645920"/>
            <a:ext cx="5632704" cy="4572000"/>
          </a:xfrm>
          <a:prstGeom prst="rect">
            <a:avLst/>
          </a:prstGeom>
          <a:noFill/>
        </p:spPr>
        <p:txBody>
          <a:bodyPr wrap="square">
            <a:spAutoFit/>
          </a:bodyPr>
          <a:lstStyle/>
          <a:p>
            <a:pPr algn="r">
              <a:defRPr sz="1400" b="1" i="0">
                <a:solidFill>
                  <a:srgbClr val="FD8209"/>
                </a:solidFill>
                <a:latin typeface="Cairo"/>
              </a:defRPr>
            </a:pPr>
            <a:r>
              <a:t>الميزات والعمليات الرئيسية</a:t>
            </a:r>
          </a:p>
          <a:p/>
          <a:p>
            <a:pPr algn="r">
              <a:defRPr sz="1200" b="0" i="0">
                <a:solidFill>
                  <a:srgbClr val="0F172A"/>
                </a:solidFill>
                <a:latin typeface="Cairo"/>
              </a:defRPr>
            </a:pPr>
            <a:r>
              <a:t>• وحدة الملصقات تدعم قائمة القوالب، القوالب الجاهزة، المصمم، قائمة الطباعة، سجل الطباعة، الإحصائيات، النسخ، القالب الافتراضي، وتسجيل عمليات الطباعة.</a:t>
            </a:r>
          </a:p>
          <a:p>
            <a:pPr>
              <a:defRPr sz="600"/>
            </a:pPr>
          </a:p>
          <a:p>
            <a:pPr algn="r">
              <a:defRPr sz="1200" b="0" i="0">
                <a:solidFill>
                  <a:srgbClr val="0F172A"/>
                </a:solidFill>
                <a:latin typeface="Cairo"/>
              </a:defRPr>
            </a:pPr>
            <a:r>
              <a:t>• وحدة الأجهزة تدعم إعدادات الأجهزة الخاصة بكل محطة، جلب النماذج المدعومة، إجراءات الاختبار، سجلات الأحداث، قراءة الباركود، ودعم شاشة العميل.</a:t>
            </a:r>
          </a:p>
          <a:p>
            <a:pPr>
              <a:defRPr sz="600"/>
            </a:pPr>
          </a:p>
          <a:p>
            <a:pPr algn="r">
              <a:defRPr sz="1200" b="0" i="0">
                <a:solidFill>
                  <a:srgbClr val="0F172A"/>
                </a:solidFill>
                <a:latin typeface="Cairo"/>
              </a:defRPr>
            </a:pPr>
            <a:r>
              <a:t>• يشمل تخصيص POS الإعدادات، قالب الإيصال، الوصول السريع، التصدير، قوالب تخطيط الإيصال، ثيمات شاشة العميل، قوالب تخطيط الملصقات، المعاينات، ومعاينات قوالب marketplace.</a:t>
            </a:r>
          </a:p>
          <a:p>
            <a:pPr>
              <a:defRPr sz="600"/>
            </a:pPr>
          </a:p>
          <a:p>
            <a:pPr algn="r">
              <a:defRPr sz="1200" b="0" i="0">
                <a:solidFill>
                  <a:srgbClr val="0F172A"/>
                </a:solidFill>
                <a:latin typeface="Cairo"/>
              </a:defRPr>
            </a:pPr>
            <a:r>
              <a:t>• يدعم التوطين ملفات ARB للإنجليزية والعربية والأردية والبنغالية مع تغيير اللغة من داخل غلاف التطبيق.</a:t>
            </a:r>
          </a:p>
          <a:p>
            <a:pPr>
              <a:defRPr sz="600"/>
            </a:pPr>
          </a:p>
          <a:p>
            <a:pPr algn="r">
              <a:defRPr sz="1200" b="0" i="0">
                <a:solidFill>
                  <a:srgbClr val="0F172A"/>
                </a:solidFill>
                <a:latin typeface="Cairo"/>
              </a:defRPr>
            </a:pPr>
            <a:r>
              <a:t>• تدعم وحدات الإشعارات والدعم والاشتراك ومدفوعات المزوّد والوصول والتحديث التلقائي تشغيل اليوم الثاني بعد الإطلاق.</a:t>
            </a:r>
          </a:p>
          <a:p>
            <a:pPr>
              <a:defRPr sz="600"/>
            </a:pPr>
          </a:p>
        </p:txBody>
      </p:sp>
      <p:sp>
        <p:nvSpPr>
          <p:cNvPr id="4" name="Rounded Rectangle 3"/>
          <p:cNvSpPr/>
          <p:nvPr/>
        </p:nvSpPr>
        <p:spPr>
          <a:xfrm>
            <a:off x="603504" y="1645920"/>
            <a:ext cx="5029200" cy="457200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0664" y="1783080"/>
            <a:ext cx="4754880"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755648"/>
            <a:ext cx="4754880" cy="365760"/>
          </a:xfrm>
          <a:prstGeom prst="rect">
            <a:avLst/>
          </a:prstGeom>
          <a:noFill/>
        </p:spPr>
        <p:txBody>
          <a:bodyPr wrap="none">
            <a:spAutoFit/>
          </a:bodyPr>
          <a:lstStyle/>
          <a:p>
            <a:pPr algn="ctr">
              <a:defRPr sz="1000" b="1" i="0">
                <a:solidFill>
                  <a:srgbClr val="FFFFFF"/>
                </a:solidFill>
                <a:latin typeface="Cairo"/>
              </a:defRPr>
            </a:pPr>
            <a:r>
              <a:t>محاكاة واجهة التطبيق | App UI Mockup</a:t>
            </a:r>
          </a:p>
        </p:txBody>
      </p:sp>
      <p:sp>
        <p:nvSpPr>
          <p:cNvPr id="7" name="Rectangle 6"/>
          <p:cNvSpPr/>
          <p:nvPr/>
        </p:nvSpPr>
        <p:spPr>
          <a:xfrm>
            <a:off x="832104" y="2286000"/>
            <a:ext cx="4572000" cy="3657600"/>
          </a:xfrm>
          <a:prstGeom prst="rect">
            <a:avLst/>
          </a:prstGeom>
          <a:solidFill>
            <a:srgbClr val="F8F7F5"/>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423160"/>
            <a:ext cx="4389120" cy="3383280"/>
          </a:xfrm>
          <a:prstGeom prst="rect">
            <a:avLst/>
          </a:prstGeom>
          <a:noFill/>
        </p:spPr>
        <p:txBody>
          <a:bodyPr wrap="square">
            <a:spAutoFit/>
          </a:bodyPr>
          <a:lstStyle/>
          <a:p>
            <a:pPr algn="ctr">
              <a:defRPr sz="1100" b="1" i="0">
                <a:solidFill>
                  <a:srgbClr val="0F172A"/>
                </a:solidFill>
                <a:latin typeface="Cairo"/>
              </a:defRPr>
            </a:pPr>
            <a:r>
              <a:t>[لقطة شاشة نشطة من الكود - Mockup Stage Screen]</a:t>
            </a:r>
          </a:p>
          <a:p/>
          <a:p>
            <a:pPr algn="r">
              <a:defRPr sz="1100" b="1" i="0">
                <a:solidFill>
                  <a:srgbClr val="0F172A"/>
                </a:solidFill>
                <a:latin typeface="Cairo"/>
              </a:defRPr>
            </a:pPr>
            <a:r>
              <a:t>مخطط التموضع والتوجيه البصري المقترح:</a:t>
            </a:r>
          </a:p>
          <a:p/>
          <a:p>
            <a:pPr algn="r">
              <a:defRPr sz="1000" b="0" i="1">
                <a:solidFill>
                  <a:srgbClr val="475569"/>
                </a:solidFill>
                <a:latin typeface="Cairo"/>
              </a:defRPr>
            </a:pPr>
            <a:r>
              <a:t>مصمم الملصقات، لوحة الأجهزة، شاشة العميل، صفحة التخصيص، مركز الإشعارات، وصفحة الدعم.</a:t>
            </a:r>
          </a:p>
          <a:p/>
          <a:p/>
          <a:p>
            <a:pPr algn="r">
              <a:defRPr sz="800" b="0" i="1">
                <a:solidFill>
                  <a:srgbClr val="0F172A"/>
                </a:solidFill>
                <a:latin typeface="Cairo"/>
              </a:defRPr>
            </a:pPr>
            <a:r>
              <a:t>ملف التحقق بالكود:</a:t>
            </a:r>
            <a:br/>
            <a:r>
              <a:t>`lib/features/labels/data/remote/label_api_service.dart`، `lib/features/hardware/data/remote/hardware_api_service.dart`، `lib/features/customer_facing_display/`، `lib/features/pos_customization/data/remote/customization_api_service.dart`، `lib/core/l10n/arb/`، `lib/features/notifications/`، `lib/features/support/`، `lib/features/auto_update/`.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7F5"/>
        </a:solidFill>
        <a:effectLst/>
      </p:bgPr>
    </p:bg>
    <p:spTree>
      <p:nvGrpSpPr>
        <p:cNvPr id="1" name=""/>
        <p:cNvGrpSpPr/>
        <p:nvPr/>
      </p:nvGrpSpPr>
      <p:grpSpPr/>
      <p:sp>
        <p:nvSpPr>
          <p:cNvPr id="2" name="TextBox 1"/>
          <p:cNvSpPr txBox="1"/>
          <p:nvPr/>
        </p:nvSpPr>
        <p:spPr>
          <a:xfrm>
            <a:off x="603504" y="365760"/>
            <a:ext cx="10972800" cy="1097280"/>
          </a:xfrm>
          <a:prstGeom prst="rect">
            <a:avLst/>
          </a:prstGeom>
          <a:noFill/>
        </p:spPr>
        <p:txBody>
          <a:bodyPr wrap="square" lIns="0" rIns="0" tIns="0" bIns="0">
            <a:spAutoFit/>
          </a:bodyPr>
          <a:lstStyle/>
          <a:p>
            <a:pPr algn="r">
              <a:defRPr sz="1200" b="1">
                <a:solidFill>
                  <a:srgbClr val="FD8209"/>
                </a:solidFill>
                <a:latin typeface="Cairo"/>
              </a:defRPr>
            </a:pPr>
            <a:r>
              <a:t>19  |</a:t>
            </a:r>
          </a:p>
          <a:p>
            <a:pPr algn="r">
              <a:defRPr sz="2200" b="1">
                <a:solidFill>
                  <a:srgbClr val="0F172A"/>
                </a:solidFill>
                <a:latin typeface="Cairo"/>
              </a:defRPr>
            </a:pPr>
            <a:r>
              <a:t>تدفقات متخصصة مع نمو الأعمال</a:t>
            </a:r>
          </a:p>
          <a:p>
            <a:pPr algn="r">
              <a:defRPr sz="1100">
                <a:solidFill>
                  <a:srgbClr val="475569"/>
                </a:solidFill>
                <a:latin typeface="Cairo"/>
              </a:defRPr>
            </a:pPr>
            <a:r>
              <a:t>يضيف Wameed POS وحدات القطاعات واقتراحات AI وأدوات أداء الكاشير للمزوّدين الذين يحتاجون أكثر من كاشير قياسي.</a:t>
            </a:r>
          </a:p>
        </p:txBody>
      </p:sp>
      <p:sp>
        <p:nvSpPr>
          <p:cNvPr id="3" name="TextBox 2"/>
          <p:cNvSpPr txBox="1"/>
          <p:nvPr/>
        </p:nvSpPr>
        <p:spPr>
          <a:xfrm>
            <a:off x="5943600" y="1645920"/>
            <a:ext cx="5632704" cy="4572000"/>
          </a:xfrm>
          <a:prstGeom prst="rect">
            <a:avLst/>
          </a:prstGeom>
          <a:noFill/>
        </p:spPr>
        <p:txBody>
          <a:bodyPr wrap="square">
            <a:spAutoFit/>
          </a:bodyPr>
          <a:lstStyle/>
          <a:p>
            <a:pPr algn="r">
              <a:defRPr sz="1400" b="1" i="0">
                <a:solidFill>
                  <a:srgbClr val="FD8209"/>
                </a:solidFill>
                <a:latin typeface="Cairo"/>
              </a:defRPr>
            </a:pPr>
            <a:r>
              <a:t>الميزات والعمليات الرئيسية</a:t>
            </a:r>
          </a:p>
          <a:p/>
          <a:p>
            <a:pPr algn="r">
              <a:defRPr sz="1200" b="0" i="0">
                <a:solidFill>
                  <a:srgbClr val="0F172A"/>
                </a:solidFill>
                <a:latin typeface="Cairo"/>
              </a:defRPr>
            </a:pPr>
            <a:r>
              <a:t>• المطاعم: الطاولات، حالة الطاولة، تذاكر المطبخ، حالة تذكرة المطبخ، الحجوزات، حالة الحجز، الحسابات المفتوحة، وإغلاق الحساب.</a:t>
            </a:r>
          </a:p>
          <a:p>
            <a:pPr>
              <a:defRPr sz="600"/>
            </a:pPr>
          </a:p>
          <a:p>
            <a:pPr algn="r">
              <a:defRPr sz="1200" b="0" i="0">
                <a:solidFill>
                  <a:srgbClr val="0F172A"/>
                </a:solidFill>
                <a:latin typeface="Cairo"/>
              </a:defRPr>
            </a:pPr>
            <a:r>
              <a:t>• تضيف وحدات المخابز والصيدليات والمجوهرات والإلكترونيات والجوالات والزهور الوصفات، الإنتاج، الوصفات الطبية، جداول الأدوية، تنبيهات الصلاحية، أسعار المعادن، تفاصيل المجوهرات، الشراء من العميل، سجلات IMEI، الإصلاحات، الاستبدال، التنسيقات، سجلات النضارة، والاشتراكات.</a:t>
            </a:r>
          </a:p>
          <a:p>
            <a:pPr>
              <a:defRPr sz="600"/>
            </a:pPr>
          </a:p>
          <a:p>
            <a:pPr algn="r">
              <a:defRPr sz="1200" b="0" i="0">
                <a:solidFill>
                  <a:srgbClr val="0F172A"/>
                </a:solidFill>
                <a:latin typeface="Cairo"/>
              </a:defRPr>
            </a:pPr>
            <a:r>
              <a:t>• تشمل صفحات Wameed AI الاقتراحات، الاستخدام، الإعدادات، إعادة الطلب الذكية، إدارة انتهاء الصلاحية، الملخص اليومي، شرائح العملاء، OCR للفواتير، أداء الموظفين، درجة الكفاءة، المحادثة، الفوترة، الفواتير، وتفاصيل الفاتورة.</a:t>
            </a:r>
          </a:p>
          <a:p>
            <a:pPr>
              <a:defRPr sz="600"/>
            </a:pPr>
          </a:p>
          <a:p>
            <a:pPr algn="r">
              <a:defRPr sz="1200" b="0" i="0">
                <a:solidFill>
                  <a:srgbClr val="0F172A"/>
                </a:solidFill>
                <a:latin typeface="Cairo"/>
              </a:defRPr>
            </a:pPr>
            <a:r>
              <a:t>• تدعم وحدة أداء الكاشير لوحة المتصدرين، تاريخ الكاشير، الشارات، منح الشارات، الشذوذ، مراجعة الشذوذ، تقارير الورديات، الإعدادات، وإنشاء snapshot.</a:t>
            </a:r>
          </a:p>
          <a:p>
            <a:pPr>
              <a:defRPr sz="600"/>
            </a:pPr>
          </a:p>
          <a:p>
            <a:pPr algn="r">
              <a:defRPr sz="1200" b="0" i="0">
                <a:solidFill>
                  <a:srgbClr val="0F172A"/>
                </a:solidFill>
                <a:latin typeface="Cairo"/>
              </a:defRPr>
            </a:pPr>
            <a:r>
              <a:t>• قدّم AI وأداء الكاشير كميزات مرتبطة بالباقة أو الإضافة ما لم تنص الخطة التجارية على غير ذلك.</a:t>
            </a:r>
          </a:p>
          <a:p>
            <a:pPr>
              <a:defRPr sz="600"/>
            </a:pPr>
          </a:p>
        </p:txBody>
      </p:sp>
      <p:sp>
        <p:nvSpPr>
          <p:cNvPr id="4" name="Rounded Rectangle 3"/>
          <p:cNvSpPr/>
          <p:nvPr/>
        </p:nvSpPr>
        <p:spPr>
          <a:xfrm>
            <a:off x="603504" y="1645920"/>
            <a:ext cx="5029200" cy="4572000"/>
          </a:xfrm>
          <a:prstGeom prst="roundRect">
            <a:avLst/>
          </a:prstGeom>
          <a:solidFill>
            <a:srgbClr val="FFFFF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0664" y="1783080"/>
            <a:ext cx="4754880"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 y="1755648"/>
            <a:ext cx="4754880" cy="365760"/>
          </a:xfrm>
          <a:prstGeom prst="rect">
            <a:avLst/>
          </a:prstGeom>
          <a:noFill/>
        </p:spPr>
        <p:txBody>
          <a:bodyPr wrap="none">
            <a:spAutoFit/>
          </a:bodyPr>
          <a:lstStyle/>
          <a:p>
            <a:pPr algn="ctr">
              <a:defRPr sz="1000" b="1" i="0">
                <a:solidFill>
                  <a:srgbClr val="FFFFFF"/>
                </a:solidFill>
                <a:latin typeface="Cairo"/>
              </a:defRPr>
            </a:pPr>
            <a:r>
              <a:t>محاكاة واجهة التطبيق | App UI Mockup</a:t>
            </a:r>
          </a:p>
        </p:txBody>
      </p:sp>
      <p:sp>
        <p:nvSpPr>
          <p:cNvPr id="7" name="Rectangle 6"/>
          <p:cNvSpPr/>
          <p:nvPr/>
        </p:nvSpPr>
        <p:spPr>
          <a:xfrm>
            <a:off x="832104" y="2286000"/>
            <a:ext cx="4572000" cy="3657600"/>
          </a:xfrm>
          <a:prstGeom prst="rect">
            <a:avLst/>
          </a:prstGeom>
          <a:solidFill>
            <a:srgbClr val="F8F7F5"/>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423160"/>
            <a:ext cx="4389120" cy="3383280"/>
          </a:xfrm>
          <a:prstGeom prst="rect">
            <a:avLst/>
          </a:prstGeom>
          <a:noFill/>
        </p:spPr>
        <p:txBody>
          <a:bodyPr wrap="square">
            <a:spAutoFit/>
          </a:bodyPr>
          <a:lstStyle/>
          <a:p>
            <a:pPr algn="ctr">
              <a:defRPr sz="1100" b="1" i="0">
                <a:solidFill>
                  <a:srgbClr val="0F172A"/>
                </a:solidFill>
                <a:latin typeface="Cairo"/>
              </a:defRPr>
            </a:pPr>
            <a:r>
              <a:t>[لقطة شاشة نشطة من الكود - Mockup Stage Screen]</a:t>
            </a:r>
          </a:p>
          <a:p/>
          <a:p>
            <a:pPr algn="r">
              <a:defRPr sz="1100" b="1" i="0">
                <a:solidFill>
                  <a:srgbClr val="0F172A"/>
                </a:solidFill>
                <a:latin typeface="Cairo"/>
              </a:defRPr>
            </a:pPr>
            <a:r>
              <a:t>مخطط التموضع والتوجيه البصري المقترح:</a:t>
            </a:r>
          </a:p>
          <a:p/>
          <a:p>
            <a:pPr algn="r">
              <a:defRPr sz="1000" b="0" i="1">
                <a:solidFill>
                  <a:srgbClr val="475569"/>
                </a:solidFill>
                <a:latin typeface="Cairo"/>
              </a:defRPr>
            </a:pPr>
            <a:r>
              <a:t>تجميعة من وحدات القطاعات مع لقطات اقتراحات AI ولوحة متصدري الكاشير.</a:t>
            </a:r>
          </a:p>
          <a:p/>
          <a:p/>
          <a:p>
            <a:pPr algn="r">
              <a:defRPr sz="800" b="0" i="1">
                <a:solidFill>
                  <a:srgbClr val="0F172A"/>
                </a:solidFill>
                <a:latin typeface="Cairo"/>
              </a:defRPr>
            </a:pPr>
            <a:r>
              <a:t>ملف التحقق بالكود:</a:t>
            </a:r>
            <a:br/>
            <a:r>
              <a:t>`lib/features/industry_restaurant/`، `lib/features/industry_bakery/`، `lib/features/industry_pharmacy/`، `lib/features/industry_jewelry/`، `lib/features/industry_electronics/`، `lib/features/industry_florist/`، `lib/features/wameed_ai/`، `lib/features/cashier_gamification/`.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11825935" y="0"/>
            <a:ext cx="365760" cy="6858000"/>
          </a:xfrm>
          <a:prstGeom prst="rect">
            <a:avLst/>
          </a:prstGeom>
          <a:solidFill>
            <a:srgbClr val="FD82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688775" y="0"/>
            <a:ext cx="137160" cy="6858000"/>
          </a:xfrm>
          <a:prstGeom prst="rect">
            <a:avLst/>
          </a:prstGeom>
          <a:solidFill>
            <a:srgbClr val="FFB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9601200" cy="4114800"/>
          </a:xfrm>
          <a:prstGeom prst="rect">
            <a:avLst/>
          </a:prstGeom>
          <a:noFill/>
        </p:spPr>
        <p:txBody>
          <a:bodyPr wrap="square">
            <a:spAutoFit/>
          </a:bodyPr>
          <a:lstStyle/>
          <a:p>
            <a:pPr algn="r">
              <a:defRPr sz="1400" b="1" i="0">
                <a:solidFill>
                  <a:srgbClr val="FFBF0D"/>
                </a:solidFill>
                <a:latin typeface="Cairo"/>
              </a:defRPr>
            </a:pPr>
            <a:r>
              <a:t>مجموعة تشغيل المتجر وإدارة النمو المتصل</a:t>
            </a:r>
          </a:p>
          <a:p/>
          <a:p>
            <a:pPr algn="r">
              <a:defRPr sz="3400" b="1" i="0">
                <a:solidFill>
                  <a:srgbClr val="FFFFFF"/>
                </a:solidFill>
                <a:latin typeface="Cairo"/>
              </a:defRPr>
            </a:pPr>
            <a:r>
              <a:t>عائلة منتجات واحدة لنمو المتجر والقنوات</a:t>
            </a:r>
          </a:p>
          <a:p/>
          <a:p>
            <a:pPr algn="r">
              <a:defRPr sz="1500" b="0" i="0">
                <a:solidFill>
                  <a:srgbClr val="F8F7F5"/>
                </a:solidFill>
                <a:latin typeface="Cairo"/>
              </a:defRPr>
            </a:pPr>
            <a:r>
              <a:t>ابدأ بـ Thawani Connected Commerce لتدفقات السوق والقنوات الإلكترونية، ثم اقرنه بـ Wameed POS لتشغيل المتجر بالكامل.</a:t>
            </a:r>
          </a:p>
          <a:p/>
          <a:p>
            <a:pPr algn="r">
              <a:defRPr sz="1200" b="0" i="1">
                <a:solidFill>
                  <a:srgbClr val="FD8209"/>
                </a:solidFill>
                <a:latin typeface="Cairo"/>
              </a:defRPr>
            </a:pPr>
            <a:r>
              <a:t>تم التطوير والدعم الفني والربط المباشر ضمن منصة موحدة مبنية على Flutter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